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67" r:id="rId3"/>
    <p:sldId id="268" r:id="rId4"/>
    <p:sldId id="34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341" r:id="rId27"/>
    <p:sldId id="294" r:id="rId28"/>
    <p:sldId id="295" r:id="rId29"/>
    <p:sldId id="296" r:id="rId30"/>
    <p:sldId id="297" r:id="rId31"/>
    <p:sldId id="298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10" r:id="rId41"/>
    <p:sldId id="311" r:id="rId42"/>
    <p:sldId id="312" r:id="rId43"/>
    <p:sldId id="313" r:id="rId44"/>
    <p:sldId id="316" r:id="rId45"/>
    <p:sldId id="342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31" r:id="rId57"/>
    <p:sldId id="332" r:id="rId58"/>
    <p:sldId id="333" r:id="rId59"/>
    <p:sldId id="343" r:id="rId60"/>
    <p:sldId id="336" r:id="rId61"/>
    <p:sldId id="337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C9C51-71E1-4114-A070-1D9D2E1F11EC}" type="datetimeFigureOut">
              <a:rPr lang="en-US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102F6-AC6D-411B-AFFD-76A5F2EF341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01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102F6-AC6D-411B-AFFD-76A5F2EF341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7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102F6-AC6D-411B-AFFD-76A5F2EF3419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7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5F02-4A09-4C9A-97B5-9837F4463FFE}" type="datetime1">
              <a:rPr lang="en-US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CD6C-6544-4E71-BDD8-780E9EA1855E}" type="datetime1">
              <a:rPr lang="en-US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3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A60C-A42D-43D9-B0D7-2986749C1BAA}" type="datetime1">
              <a:rPr lang="en-US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EF696-757F-48B0-B521-946484BAD197}" type="datetime1">
              <a:rPr lang="en-US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04300-9233-462C-982D-1DF6FDE7BCD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0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a72a5c3396db4b1c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a6b0255a8b47402c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430423b29b2d43af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fc304db150664591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92a949d7a89f4101" Type="http://schemas.openxmlformats.org/officeDocument/2006/relationships/image" Target="../media/image27.png"/><Relationship Id="R23d1ebc33258403b" Type="http://schemas.openxmlformats.org/officeDocument/2006/relationships/image" Target="../media/image29.png"/><Relationship Id="Rec5f7cbda5814f47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18fc1de4bbc54c66" Type="http://schemas.openxmlformats.org/officeDocument/2006/relationships/image" Target="../media/image35.png"/><Relationship Id="R2a826e6475764ce8" Type="http://schemas.openxmlformats.org/officeDocument/2006/relationships/image" Target="../media/image38.png"/><Relationship Id="R2ab8b8d098604bcc" Type="http://schemas.openxmlformats.org/officeDocument/2006/relationships/image" Target="../media/image37.png"/><Relationship Id="Rc629fc0f824b4898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13291958031c4a90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5e7404d13f3a4ced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a2271f22b8e241e3" Type="http://schemas.openxmlformats.org/officeDocument/2006/relationships/image" Target="../media/image43.png"/><Relationship Id="rId3" Type="http://schemas.openxmlformats.org/officeDocument/2006/relationships/image" Target="../media/image19.png"/><Relationship Id="Raff130e8abf84f6f" Type="http://schemas.openxmlformats.org/officeDocument/2006/relationships/image" Target="../media/image4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70cd2d341723465d" Type="http://schemas.openxmlformats.org/officeDocument/2006/relationships/image" Target="../media/image48.png"/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4448114da32743ca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c900c8d4c6c34a9e" Type="http://schemas.openxmlformats.org/officeDocument/2006/relationships/image" Target="../media/image5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b107adcb3c1c46fd" Type="http://schemas.openxmlformats.org/officeDocument/2006/relationships/image" Target="../media/image53.png"/><Relationship Id="R6b55ac2d245241de" Type="http://schemas.openxmlformats.org/officeDocument/2006/relationships/image" Target="../media/image56.png"/><Relationship Id="Rd4449a6d61c8406d" Type="http://schemas.openxmlformats.org/officeDocument/2006/relationships/image" Target="../media/image5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3f8c6ba4307140de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637c2a2e0fd54224" Type="http://schemas.openxmlformats.org/officeDocument/2006/relationships/image" Target="../media/image8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e667f1985be14b0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e81cbc02b59f4ee6" Type="http://schemas.openxmlformats.org/officeDocument/2006/relationships/image" Target="../media/image8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4b2eb17dd4464a37" Type="http://schemas.openxmlformats.org/officeDocument/2006/relationships/image" Target="../media/image88.png"/><Relationship Id="R5068b6db6d454dee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ee80c0a20c9e4075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b2c7e034fb2c4177" Type="http://schemas.openxmlformats.org/officeDocument/2006/relationships/image" Target="../media/image10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12dc3752eb944d4b" Type="http://schemas.openxmlformats.org/officeDocument/2006/relationships/image" Target="../media/image10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ec25c15f95644214" Type="http://schemas.openxmlformats.org/officeDocument/2006/relationships/image" Target="../media/image111.png"/><Relationship Id="R9c5962fb82d64578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2c60b101a6ad4738" Type="http://schemas.openxmlformats.org/officeDocument/2006/relationships/image" Target="../media/image114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25c56588861841ba" Type="http://schemas.openxmlformats.org/officeDocument/2006/relationships/image" Target="../media/image115.png"/></Relationships>
</file>

<file path=ppt/slides/_rels/slide53.xml.rels><?xml version="1.0" encoding="UTF-8" standalone="yes"?>
<Relationships xmlns="http://schemas.openxmlformats.org/package/2006/relationships"><Relationship Id="Re69c6b2b9c5949f8" Type="http://schemas.openxmlformats.org/officeDocument/2006/relationships/image" Target="../media/image11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ed4359df5b7f4f2d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f720abfd70f94049" Type="http://schemas.openxmlformats.org/officeDocument/2006/relationships/image" Target="../media/image13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596d13088ccf4796" Type="http://schemas.openxmlformats.org/officeDocument/2006/relationships/image" Target="../media/image13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e02c7ff241784f5e" Type="http://schemas.openxmlformats.org/officeDocument/2006/relationships/image" Target="../media/image1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7967" y="1122363"/>
            <a:ext cx="10107827" cy="2387600"/>
          </a:xfrm>
        </p:spPr>
        <p:txBody>
          <a:bodyPr/>
          <a:lstStyle/>
          <a:p>
            <a:r>
              <a:rPr lang="en-US" dirty="0"/>
              <a:t>Probability Theory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3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453"/>
          </a:xfrm>
        </p:spPr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1578"/>
            <a:ext cx="10515600" cy="5132173"/>
          </a:xfrm>
        </p:spPr>
        <p:txBody>
          <a:bodyPr>
            <a:normAutofit/>
          </a:bodyPr>
          <a:lstStyle/>
          <a:p>
            <a:r>
              <a:rPr lang="en-US" dirty="0"/>
              <a:t>Relative frequency:</a:t>
            </a:r>
          </a:p>
          <a:p>
            <a:pPr lvl="1"/>
            <a:r>
              <a:rPr lang="en-US" sz="2800" dirty="0"/>
              <a:t>Let us toss a coin and observe its outcomes: </a:t>
            </a:r>
          </a:p>
          <a:p>
            <a:pPr marL="457200" lvl="1" indent="0">
              <a:buNone/>
            </a:pPr>
            <a:r>
              <a:rPr lang="en-US" sz="2800" dirty="0"/>
              <a:t>            {H,H,T,H,T,T,T,T,H,H,H,T,T,H,T,T,H,H,H,T,T,H,H,H}</a:t>
            </a:r>
          </a:p>
          <a:p>
            <a:pPr lvl="4"/>
            <a:r>
              <a:rPr lang="en-US" sz="2400" dirty="0"/>
              <a:t>Number of heads:13=frequency of head</a:t>
            </a:r>
          </a:p>
          <a:p>
            <a:pPr lvl="4"/>
            <a:r>
              <a:rPr lang="en-US" sz="2400" dirty="0"/>
              <a:t>Number of tails: 11  =frequency of tail</a:t>
            </a:r>
          </a:p>
          <a:p>
            <a:pPr lvl="4"/>
            <a:r>
              <a:rPr lang="en-US" sz="2400" dirty="0"/>
              <a:t>Relative frequency of H=number of H/total number of tosses=13/24=0.5417</a:t>
            </a:r>
          </a:p>
          <a:p>
            <a:pPr lvl="4"/>
            <a:r>
              <a:rPr lang="en-US" sz="2400" dirty="0"/>
              <a:t>Relative frequency of T= number of T/total number of tosses=11/24=0.4583</a:t>
            </a:r>
          </a:p>
          <a:p>
            <a:pPr lvl="1"/>
            <a:r>
              <a:rPr lang="en-US" sz="3200" dirty="0"/>
              <a:t>Note that Relative frequency of H + Relative frequency of T=1</a:t>
            </a:r>
          </a:p>
          <a:p>
            <a:pPr lvl="1"/>
            <a:r>
              <a:rPr lang="en-US" sz="3200" dirty="0"/>
              <a:t>If number of tosses-&gt; Infinity, we get probability</a:t>
            </a:r>
          </a:p>
          <a:p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118" y="1166468"/>
            <a:ext cx="2143125" cy="21431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2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172"/>
          </a:xfrm>
        </p:spPr>
        <p:txBody>
          <a:bodyPr/>
          <a:lstStyle/>
          <a:p>
            <a:r>
              <a:rPr lang="en-US" dirty="0"/>
              <a:t>Event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3298"/>
                <a:ext cx="10515600" cy="502366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Event lies in a set of outcomes, which is called sample space S</a:t>
                </a:r>
              </a:p>
              <a:p>
                <a:pPr lvl="1"/>
                <a:r>
                  <a:rPr lang="en-US" dirty="0"/>
                  <a:t>Tossing a coin</a:t>
                </a:r>
                <a:r>
                  <a:rPr lang="en-US" dirty="0">
                    <a:sym typeface="Wingdings" panose="05000000000000000000" pitchFamily="2" charset="2"/>
                  </a:rPr>
                  <a:t> Sample space: {H,T}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Rolling a dice Sample space: {1,2,3,4,5,6}</a:t>
                </a:r>
              </a:p>
              <a:p>
                <a:r>
                  <a:rPr lang="en-US" dirty="0">
                    <a:cs typeface="Times New Roman" panose="02020603050405020304" pitchFamily="18" charset="0"/>
                  </a:rPr>
                  <a:t>The probability of an event </a:t>
                </a:r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in the given sample space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, denoted as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, must satisfies the following properties: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cs typeface="Times New Roman" panose="02020603050405020304" pitchFamily="18" charset="0"/>
                  </a:rPr>
                  <a:t>Non-negativity</a:t>
                </a:r>
              </a:p>
              <a:p>
                <a:pPr marL="1200150" lvl="2" indent="-285750" algn="just">
                  <a:lnSpc>
                    <a:spcPct val="150000"/>
                  </a:lnSpc>
                </a:pPr>
                <a:r>
                  <a:rPr lang="en-US" sz="2100" dirty="0">
                    <a:cs typeface="Times New Roman" panose="02020603050405020304" pitchFamily="18" charset="0"/>
                  </a:rPr>
                  <a:t>For any event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1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100" dirty="0"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cs typeface="Times New Roman" panose="02020603050405020304" pitchFamily="18" charset="0"/>
                  </a:rPr>
                  <a:t>All possible outcomes</a:t>
                </a:r>
              </a:p>
              <a:p>
                <a:pPr marL="1200150" lvl="2" indent="-285750" algn="just">
                  <a:lnSpc>
                    <a:spcPct val="150000"/>
                  </a:lnSpc>
                </a:pPr>
                <a:r>
                  <a:rPr lang="en-US" sz="2100" dirty="0">
                    <a:cs typeface="Times New Roman" panose="02020603050405020304" pitchFamily="18" charset="0"/>
                  </a:rPr>
                  <a:t>Probability of the entire sample space is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100" dirty="0"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100" dirty="0">
                    <a:cs typeface="Times New Roman" panose="02020603050405020304" pitchFamily="18" charset="0"/>
                  </a:rPr>
                  <a:t>Additivity of disjoint events</a:t>
                </a:r>
              </a:p>
              <a:p>
                <a:pPr marL="1200150" lvl="2" indent="-285750" algn="just">
                  <a:lnSpc>
                    <a:spcPct val="150000"/>
                  </a:lnSpc>
                </a:pPr>
                <a:r>
                  <a:rPr lang="en-US" sz="2100" dirty="0">
                    <a:cs typeface="Times New Roman" panose="02020603050405020304" pitchFamily="18" charset="0"/>
                  </a:rPr>
                  <a:t>For all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 that are mutually exclusive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1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1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=∅)</m:t>
                    </m:r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, the probability that both events happen is equal to the sum of their individual probabilities, </a:t>
                </a:r>
                <a14:m>
                  <m:oMath xmlns:m="http://schemas.openxmlformats.org/officeDocument/2006/math">
                    <m:r>
                      <a:rPr lang="en-US" sz="21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sz="21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10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dirty="0"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sz="21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3298"/>
                <a:ext cx="10515600" cy="5023665"/>
              </a:xfrm>
              <a:blipFill>
                <a:blip r:embed="Ra72a5c3396db4b1c"/>
                <a:stretch>
                  <a:fillRect l="-928" t="-3034" r="-522" b="-1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78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FEA1A80-4D4D-45BD-E185-FDAB36252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27" y="1613516"/>
            <a:ext cx="5294716" cy="301798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F47D02A-B0CF-FAC1-E750-5B7B94297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00" y="1613516"/>
            <a:ext cx="5294715" cy="30888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4D149-CA4A-9CEC-7F52-5CF761A0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7304300-9233-462C-982D-1DF6FDE7BCD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77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</p:spPr>
        <p:txBody>
          <a:bodyPr/>
          <a:lstStyle/>
          <a:p>
            <a:r>
              <a:rPr lang="en-US" dirty="0"/>
              <a:t>Independent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5103"/>
            <a:ext cx="10515600" cy="4891860"/>
          </a:xfrm>
        </p:spPr>
        <p:txBody>
          <a:bodyPr/>
          <a:lstStyle/>
          <a:p>
            <a:r>
              <a:rPr lang="en-US" dirty="0"/>
              <a:t>Events A and B are independent, if</a:t>
            </a:r>
          </a:p>
          <a:p>
            <a:pPr marL="0" indent="0" algn="ctr">
              <a:buNone/>
            </a:pPr>
            <a:r>
              <a:rPr lang="en-US" dirty="0"/>
              <a:t>P(A|B)=P(A)</a:t>
            </a:r>
          </a:p>
          <a:p>
            <a:pPr marL="0" indent="0" algn="ctr">
              <a:buNone/>
            </a:pPr>
            <a:r>
              <a:rPr lang="en-US" dirty="0"/>
              <a:t>P(B|A)=P(B)</a:t>
            </a:r>
          </a:p>
          <a:p>
            <a:r>
              <a:rPr lang="en-US" dirty="0"/>
              <a:t>P(A|B) is the conditional probability of A given B has occurred</a:t>
            </a:r>
          </a:p>
          <a:p>
            <a:r>
              <a:rPr lang="en-US" dirty="0"/>
              <a:t>Example: Let us toss a coin (Event A) and roll a dice (Event B) together, what is the probability of getting H when 5 occurs on dice? </a:t>
            </a:r>
          </a:p>
          <a:p>
            <a:pPr marL="0" indent="0" algn="ctr">
              <a:buNone/>
            </a:pPr>
            <a:r>
              <a:rPr lang="en-US" dirty="0"/>
              <a:t>P(H|5)=P(H): does not depend upon the dice outcome</a:t>
            </a:r>
          </a:p>
          <a:p>
            <a:pPr algn="just"/>
            <a:r>
              <a:rPr lang="en-US" dirty="0"/>
              <a:t>Similarly,</a:t>
            </a:r>
          </a:p>
          <a:p>
            <a:pPr marL="0" indent="0" algn="ctr">
              <a:buNone/>
            </a:pPr>
            <a:r>
              <a:rPr lang="en-US" dirty="0"/>
              <a:t>P(5|H)=P(5): does not depend upon the coin outcome</a:t>
            </a:r>
          </a:p>
          <a:p>
            <a:pPr algn="just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9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</p:spPr>
        <p:txBody>
          <a:bodyPr/>
          <a:lstStyle/>
          <a:p>
            <a:r>
              <a:rPr lang="en-US" dirty="0"/>
              <a:t>Dependent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2724"/>
                <a:ext cx="6905368" cy="497423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occurrence of one event depends upon another event </a:t>
                </a:r>
              </a:p>
              <a:p>
                <a:r>
                  <a:rPr lang="en-US" dirty="0"/>
                  <a:t>Example: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sz="1800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</a:t>
                </a:r>
                <a14:m>
                  <m:oMath xmlns:m="http://schemas.openxmlformats.org/officeDocument/2006/math">
                    <m:r>
                      <a:rPr lang="en-US" sz="1800" i="1" spc="5" dirty="0">
                        <a:latin typeface="Cambria Math" panose="02040503050406030204" pitchFamily="18" charset="0"/>
                        <a:cs typeface="Calibri"/>
                      </a:rPr>
                      <m:t>𝐴</m:t>
                    </m:r>
                  </m:oMath>
                </a14:m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sz="18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getting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in the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spc="-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dice</a:t>
                </a:r>
              </a:p>
              <a:p>
                <a:pPr marL="755650" indent="-285750">
                  <a:lnSpc>
                    <a:spcPts val="3370"/>
                  </a:lnSpc>
                  <a:spcBef>
                    <a:spcPts val="615"/>
                  </a:spcBef>
                  <a:buFont typeface="Wingdings" panose="05000000000000000000" pitchFamily="2" charset="2"/>
                  <a:buChar char="§"/>
                </a:pPr>
                <a:r>
                  <a:rPr lang="en-US" sz="1800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</a:t>
                </a:r>
                <a:r>
                  <a:rPr lang="en-US" sz="1800" i="1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</a:t>
                </a:r>
                <a:r>
                  <a:rPr lang="en-US" sz="18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sz="18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getting</a:t>
                </a:r>
                <a:r>
                  <a:rPr lang="en-US" sz="1800" spc="-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2,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r>
                  <a:rPr lang="en-US" sz="1800" spc="-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In this case, P(A|B)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P(A) and P(B|A)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dirty="0"/>
                  <a:t>P(B)</a:t>
                </a:r>
              </a:p>
              <a:p>
                <a:r>
                  <a:rPr lang="en-US" dirty="0"/>
                  <a:t>Example: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Event A: Drawing a black ball in first pull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Event B: Drawing another black ball in the second pull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In this case, P(B|A)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dirty="0"/>
                  <a:t>P(B)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2724"/>
                <a:ext cx="6905368" cy="4974239"/>
              </a:xfrm>
              <a:blipFill rotWithShape="0">
                <a:blip r:embed="Ra6b0255a8b47402c"/>
                <a:stretch>
                  <a:fillRect l="-1590" t="-1961" r="-795" b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rapezoid 3"/>
          <p:cNvSpPr/>
          <p:nvPr/>
        </p:nvSpPr>
        <p:spPr>
          <a:xfrm rot="10800000">
            <a:off x="9028670" y="3781168"/>
            <a:ext cx="2215979" cy="1696994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407611" y="3945924"/>
            <a:ext cx="164757" cy="16475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350975" y="4349578"/>
            <a:ext cx="164757" cy="16475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326130" y="4102442"/>
            <a:ext cx="164757" cy="16475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708292" y="4790302"/>
            <a:ext cx="164757" cy="16475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0636077" y="4431956"/>
            <a:ext cx="164757" cy="16475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846790" y="4287793"/>
            <a:ext cx="164757" cy="16475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560011" y="4098324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000991" y="4003587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0083369" y="5099221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9677914" y="4514334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0173729" y="4407239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0828636" y="4160106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0602353" y="3945924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0385596" y="4716159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044626" y="4777944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9675855" y="5134232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0483999" y="4942701"/>
            <a:ext cx="164757" cy="16475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004" y="1523607"/>
            <a:ext cx="3709215" cy="1858019"/>
          </a:xfrm>
          <a:prstGeom prst="rect">
            <a:avLst/>
          </a:prstGeom>
        </p:spPr>
      </p:pic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6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264"/>
          </a:xfrm>
        </p:spPr>
        <p:txBody>
          <a:bodyPr/>
          <a:lstStyle/>
          <a:p>
            <a:r>
              <a:rPr lang="en-US" dirty="0"/>
              <a:t>Joint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0390"/>
                <a:ext cx="11040122" cy="4916573"/>
              </a:xfrm>
            </p:spPr>
            <p:txBody>
              <a:bodyPr/>
              <a:lstStyle/>
              <a:p>
                <a:r>
                  <a:rPr lang="en-US" dirty="0"/>
                  <a:t>If A and B are two events, then P(A,B) is their joint probability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Let us toss two coins, then their outcomes are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Their joint probabilities will be: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easy to find that: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=1/4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Joint probability table:</a:t>
                </a:r>
              </a:p>
              <a:p>
                <a:pPr marL="457200" lvl="1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0390"/>
                <a:ext cx="11040122" cy="4916573"/>
              </a:xfrm>
              <a:blipFill>
                <a:blip r:embed="rId2"/>
                <a:stretch>
                  <a:fillRect l="-994" t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858106"/>
              </p:ext>
            </p:extLst>
          </p:nvPr>
        </p:nvGraphicFramePr>
        <p:xfrm>
          <a:off x="4267199" y="4838584"/>
          <a:ext cx="3945924" cy="1463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87">
                <a:tc>
                  <a:txBody>
                    <a:bodyPr/>
                    <a:lstStyle/>
                    <a:p>
                      <a:r>
                        <a:rPr lang="en-US" dirty="0"/>
                        <a:t>A/B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87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87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7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2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4573"/>
            <a:ext cx="8115300" cy="4702390"/>
          </a:xfrm>
        </p:spPr>
        <p:txBody>
          <a:bodyPr/>
          <a:lstStyle/>
          <a:p>
            <a:r>
              <a:rPr lang="en-US" dirty="0"/>
              <a:t>A table recording Temperature and Weather of a location</a:t>
            </a:r>
          </a:p>
          <a:p>
            <a:pPr lvl="1"/>
            <a:r>
              <a:rPr lang="en-US" dirty="0"/>
              <a:t>Temperature {Hot, Cold}</a:t>
            </a:r>
          </a:p>
          <a:p>
            <a:pPr lvl="1"/>
            <a:r>
              <a:rPr lang="en-US" dirty="0"/>
              <a:t>Weather {Sun, Rain}</a:t>
            </a:r>
          </a:p>
          <a:p>
            <a:r>
              <a:rPr lang="en-US" dirty="0"/>
              <a:t>Suppose there are 1000 entries, a pairwise summary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Joint probability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1326292"/>
            <a:ext cx="2400300" cy="44649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602" y="3644535"/>
            <a:ext cx="4029075" cy="1038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327" y="5191254"/>
            <a:ext cx="3943350" cy="9239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4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5881"/>
          </a:xfrm>
        </p:spPr>
        <p:txBody>
          <a:bodyPr/>
          <a:lstStyle/>
          <a:p>
            <a:r>
              <a:rPr lang="en-US" dirty="0"/>
              <a:t>Bayes’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1006"/>
                <a:ext cx="10515600" cy="48259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A and B are independent: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).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1006"/>
                <a:ext cx="10515600" cy="4825958"/>
              </a:xfrm>
              <a:blipFill>
                <a:blip r:embed="R430423b29b2d43af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9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8745"/>
          </a:xfrm>
        </p:spPr>
        <p:txBody>
          <a:bodyPr/>
          <a:lstStyle/>
          <a:p>
            <a:r>
              <a:rPr lang="en-US" dirty="0"/>
              <a:t>Application of Bayes’ Rule: COVID-19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69773"/>
            <a:ext cx="10884243" cy="5007190"/>
          </a:xfrm>
        </p:spPr>
        <p:txBody>
          <a:bodyPr>
            <a:normAutofit/>
          </a:bodyPr>
          <a:lstStyle/>
          <a:p>
            <a:r>
              <a:rPr lang="en-US" dirty="0"/>
              <a:t>A COVID-19 test kit offers very high test accuracy of 98% (490*100/500)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775" y="2622136"/>
            <a:ext cx="4381500" cy="1171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8708" y="4263659"/>
            <a:ext cx="1693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Joint Probability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487" y="4568850"/>
            <a:ext cx="5172075" cy="1228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7194" y="2266533"/>
            <a:ext cx="171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11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735" y="365125"/>
            <a:ext cx="10515600" cy="1035307"/>
          </a:xfrm>
        </p:spPr>
        <p:txBody>
          <a:bodyPr/>
          <a:lstStyle/>
          <a:p>
            <a:r>
              <a:rPr lang="en-US" dirty="0"/>
              <a:t>Application of Bayes’ Rule: COVID-19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254" y="1408669"/>
            <a:ext cx="10515600" cy="4776531"/>
          </a:xfrm>
        </p:spPr>
        <p:txBody>
          <a:bodyPr>
            <a:normAutofit/>
          </a:bodyPr>
          <a:lstStyle/>
          <a:p>
            <a:r>
              <a:rPr lang="en-US" dirty="0"/>
              <a:t>What are the chances that a person tested positive is actually infected</a:t>
            </a:r>
          </a:p>
          <a:p>
            <a:pPr marL="0" indent="0" algn="ctr">
              <a:buNone/>
            </a:pPr>
            <a:r>
              <a:rPr lang="en-US" dirty="0"/>
              <a:t>P(</a:t>
            </a:r>
            <a:r>
              <a:rPr lang="en-US" dirty="0" err="1"/>
              <a:t>Inf|Pos</a:t>
            </a:r>
            <a:r>
              <a:rPr lang="en-US" dirty="0"/>
              <a:t>)=P(</a:t>
            </a:r>
            <a:r>
              <a:rPr lang="en-US" dirty="0" err="1"/>
              <a:t>Pos</a:t>
            </a:r>
            <a:r>
              <a:rPr lang="en-US" dirty="0"/>
              <a:t>, </a:t>
            </a:r>
            <a:r>
              <a:rPr lang="en-US" dirty="0" err="1"/>
              <a:t>Inf</a:t>
            </a:r>
            <a:r>
              <a:rPr lang="en-US" dirty="0"/>
              <a:t>)/P(</a:t>
            </a:r>
            <a:r>
              <a:rPr lang="en-US" dirty="0" err="1"/>
              <a:t>Pos</a:t>
            </a:r>
            <a:r>
              <a:rPr lang="en-US" dirty="0"/>
              <a:t>)</a:t>
            </a:r>
          </a:p>
          <a:p>
            <a:pPr marL="0" indent="0" algn="ctr">
              <a:buNone/>
            </a:pPr>
            <a:r>
              <a:rPr lang="en-US" dirty="0"/>
              <a:t>P(</a:t>
            </a:r>
            <a:r>
              <a:rPr lang="en-US" dirty="0" err="1"/>
              <a:t>Inf|Pos</a:t>
            </a:r>
            <a:r>
              <a:rPr lang="en-US" dirty="0"/>
              <a:t>)=0.049/0.0680=0.72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 positive result from test, then there is only a 72% chance of infected. This indicates a 28% people who test positive but not infected leading to quarantining.</a:t>
            </a:r>
          </a:p>
          <a:p>
            <a:r>
              <a:rPr lang="en-US" dirty="0"/>
              <a:t>Similarly, P(</a:t>
            </a:r>
            <a:r>
              <a:rPr lang="en-US" dirty="0" err="1"/>
              <a:t>Not-Inf|Pos</a:t>
            </a:r>
            <a:r>
              <a:rPr lang="en-US" dirty="0"/>
              <a:t>), P(</a:t>
            </a:r>
            <a:r>
              <a:rPr lang="en-US" dirty="0" err="1"/>
              <a:t>Inf|Neg</a:t>
            </a:r>
            <a:r>
              <a:rPr lang="en-US" dirty="0"/>
              <a:t>), etc. can be calculated.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319" y="1864286"/>
            <a:ext cx="3294491" cy="166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2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4E9D0-1AA6-26BD-FAD3-0D50CE06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E14D7-E285-4E5C-439F-6110EE78C42D}"/>
              </a:ext>
            </a:extLst>
          </p:cNvPr>
          <p:cNvSpPr txBox="1"/>
          <p:nvPr/>
        </p:nvSpPr>
        <p:spPr>
          <a:xfrm>
            <a:off x="887766" y="1088710"/>
            <a:ext cx="9996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__Inter_aaf875"/>
              </a:rPr>
              <a:t>True Positives (TP):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aaf875"/>
              </a:rPr>
              <a:t> The number of positive cases that were correctly predicted as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__Inter_aaf875"/>
              </a:rPr>
              <a:t>True Negatives (TN):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aaf875"/>
              </a:rPr>
              <a:t> The number of negative cases that were correctly predicted as negative.</a:t>
            </a:r>
            <a:endParaRPr lang="en-US" dirty="0">
              <a:solidFill>
                <a:srgbClr val="374151"/>
              </a:solidFill>
              <a:latin typeface="__Inter_aaf87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__Inter_aaf875"/>
              </a:rPr>
              <a:t>False Positives (FP):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aaf875"/>
              </a:rPr>
              <a:t> The number of negative cases that were incorrectly predicted as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__Inter_aaf875"/>
              </a:rPr>
              <a:t>False Negatives (FN):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aaf875"/>
              </a:rPr>
              <a:t> The number of positive cases that were incorrectly predicted as negative.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00018-400A-A485-7592-5F665DAE6EA6}"/>
              </a:ext>
            </a:extLst>
          </p:cNvPr>
          <p:cNvSpPr txBox="1"/>
          <p:nvPr/>
        </p:nvSpPr>
        <p:spPr>
          <a:xfrm>
            <a:off x="887766" y="2546258"/>
            <a:ext cx="9552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__Inter_aaf875"/>
              </a:rPr>
              <a:t>Accuracy</a:t>
            </a:r>
            <a:r>
              <a:rPr lang="en-US" b="1" i="0" dirty="0">
                <a:effectLst/>
                <a:latin typeface="__Inter_aaf875"/>
              </a:rPr>
              <a:t>:</a:t>
            </a:r>
            <a:r>
              <a:rPr lang="en-US" b="0" i="0" dirty="0">
                <a:effectLst/>
                <a:latin typeface="__Inter_aaf875"/>
              </a:rPr>
              <a:t> The percentage of correct predictions made by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__Inter_aaf875"/>
              </a:rPr>
              <a:t>Precision</a:t>
            </a:r>
            <a:r>
              <a:rPr lang="en-US" b="1" i="0" dirty="0">
                <a:effectLst/>
                <a:latin typeface="__Inter_aaf875"/>
              </a:rPr>
              <a:t>: </a:t>
            </a:r>
            <a:r>
              <a:rPr lang="en-US" b="0" i="0" dirty="0">
                <a:effectLst/>
                <a:latin typeface="__Inter_aaf875"/>
              </a:rPr>
              <a:t>The percentage of positive predictions that were correct.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__Inter_aaf875"/>
              </a:rPr>
              <a:t>Recall</a:t>
            </a:r>
            <a:r>
              <a:rPr lang="en-US" b="1" i="0" dirty="0">
                <a:effectLst/>
                <a:latin typeface="__Inter_aaf875"/>
              </a:rPr>
              <a:t>: </a:t>
            </a:r>
            <a:r>
              <a:rPr lang="en-US" b="0" i="0" dirty="0">
                <a:effectLst/>
                <a:latin typeface="__Inter_aaf875"/>
              </a:rPr>
              <a:t>The percentage of actual positive cases that were correctly identified by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__Inter_aaf875"/>
              </a:rPr>
              <a:t>F1-score</a:t>
            </a:r>
            <a:r>
              <a:rPr lang="en-US" b="1" i="0" dirty="0">
                <a:effectLst/>
                <a:latin typeface="__Inter_aaf875"/>
              </a:rPr>
              <a:t>: 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aaf875"/>
              </a:rPr>
              <a:t>The harmonic mean of precision and recall.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4F7E5-CF77-A132-B4B5-9669E24B8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019" y="3911351"/>
            <a:ext cx="3686175" cy="2505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D58512-8292-9238-2AAF-23D728FC2179}"/>
                  </a:ext>
                </a:extLst>
              </p:cNvPr>
              <p:cNvSpPr txBox="1"/>
              <p:nvPr/>
            </p:nvSpPr>
            <p:spPr>
              <a:xfrm>
                <a:off x="905522" y="4311742"/>
                <a:ext cx="2689934" cy="485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Accuracy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D58512-8292-9238-2AAF-23D728FC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522" y="4311742"/>
                <a:ext cx="2689934" cy="485582"/>
              </a:xfrm>
              <a:prstGeom prst="rect">
                <a:avLst/>
              </a:prstGeom>
              <a:blipFill>
                <a:blip r:embed="Rec5f7cbda5814f47"/>
                <a:stretch>
                  <a:fillRect l="-2041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3F323E-AD8A-08FE-4E89-0BA86741952E}"/>
                  </a:ext>
                </a:extLst>
              </p:cNvPr>
              <p:cNvSpPr txBox="1"/>
              <p:nvPr/>
            </p:nvSpPr>
            <p:spPr>
              <a:xfrm>
                <a:off x="905522" y="4856708"/>
                <a:ext cx="1855433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Precision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3F323E-AD8A-08FE-4E89-0BA867419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522" y="4856708"/>
                <a:ext cx="1855433" cy="485582"/>
              </a:xfrm>
              <a:prstGeom prst="rect">
                <a:avLst/>
              </a:prstGeom>
              <a:blipFill>
                <a:blip r:embed="R92a949d7a89f4101"/>
                <a:stretch>
                  <a:fillRect l="-2961"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36E82B-8BCB-C95D-D751-66F8119FACB8}"/>
                  </a:ext>
                </a:extLst>
              </p:cNvPr>
              <p:cNvSpPr txBox="1"/>
              <p:nvPr/>
            </p:nvSpPr>
            <p:spPr>
              <a:xfrm>
                <a:off x="905522" y="5385186"/>
                <a:ext cx="1757779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Recall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36E82B-8BCB-C95D-D751-66F8119F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522" y="5385186"/>
                <a:ext cx="1757779" cy="485582"/>
              </a:xfrm>
              <a:prstGeom prst="rect">
                <a:avLst/>
              </a:prstGeom>
              <a:blipFill>
                <a:blip r:embed="Rfc304db150664591"/>
                <a:stretch>
                  <a:fillRect l="-3125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B4EF8C-D222-C538-C3AD-3517AC87962E}"/>
                  </a:ext>
                </a:extLst>
              </p:cNvPr>
              <p:cNvSpPr txBox="1"/>
              <p:nvPr/>
            </p:nvSpPr>
            <p:spPr>
              <a:xfrm>
                <a:off x="905522" y="5870768"/>
                <a:ext cx="3409026" cy="528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F1 Score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=2×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/>
                          <m:t>Precision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Precision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B4EF8C-D222-C538-C3AD-3517AC879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522" y="5870768"/>
                <a:ext cx="3409026" cy="528478"/>
              </a:xfrm>
              <a:prstGeom prst="rect">
                <a:avLst/>
              </a:prstGeom>
              <a:blipFill>
                <a:blip r:embed="R23d1ebc33258403b"/>
                <a:stretch>
                  <a:fillRect l="-1610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7EA819D-EBA6-6217-9439-3A983D448249}"/>
              </a:ext>
            </a:extLst>
          </p:cNvPr>
          <p:cNvSpPr txBox="1"/>
          <p:nvPr/>
        </p:nvSpPr>
        <p:spPr>
          <a:xfrm>
            <a:off x="1127464" y="257452"/>
            <a:ext cx="4660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99476-774A-F24D-BC9A-7F148C62C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727" y="3746587"/>
            <a:ext cx="370522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50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2313"/>
          </a:xfrm>
        </p:spPr>
        <p:txBody>
          <a:bodyPr/>
          <a:lstStyle/>
          <a:p>
            <a:r>
              <a:rPr lang="en-US" dirty="0"/>
              <a:t>Confusion Matrix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7481"/>
            <a:ext cx="10515600" cy="4809482"/>
          </a:xfrm>
        </p:spPr>
        <p:txBody>
          <a:bodyPr/>
          <a:lstStyle/>
          <a:p>
            <a:r>
              <a:rPr lang="en-US" dirty="0"/>
              <a:t>Recall=TP/(TP+FN)=490/500=0.98</a:t>
            </a:r>
          </a:p>
          <a:p>
            <a:r>
              <a:rPr lang="en-US" dirty="0"/>
              <a:t>Precision=TP/(TP+FP)=490/680=0.72</a:t>
            </a:r>
          </a:p>
          <a:p>
            <a:r>
              <a:rPr lang="en-US" dirty="0"/>
              <a:t>Accuracy=TP+TN/Total=(490+9310)/10000</a:t>
            </a:r>
          </a:p>
          <a:p>
            <a:pPr marL="0" indent="0">
              <a:buNone/>
            </a:pPr>
            <a:r>
              <a:rPr lang="en-US" dirty="0"/>
              <a:t>                                           =0.98</a:t>
            </a:r>
          </a:p>
          <a:p>
            <a:r>
              <a:rPr lang="en-US" dirty="0"/>
              <a:t>F-measure=2*Recall*Precision/(</a:t>
            </a:r>
            <a:r>
              <a:rPr lang="en-US" dirty="0" err="1"/>
              <a:t>Recall+Precision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         =2*0.98*0.72/(0.98+0.72)</a:t>
            </a:r>
          </a:p>
          <a:p>
            <a:pPr marL="0" indent="0">
              <a:buNone/>
            </a:pPr>
            <a:r>
              <a:rPr lang="en-US" dirty="0"/>
              <a:t>                      =0.83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54" y="1301578"/>
            <a:ext cx="4257418" cy="21006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27265" y="1982570"/>
            <a:ext cx="42191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3492" y="2430140"/>
            <a:ext cx="45076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0532" y="1920765"/>
            <a:ext cx="41389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3642" y="2451440"/>
            <a:ext cx="44275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FN</a:t>
            </a:r>
          </a:p>
        </p:txBody>
      </p:sp>
    </p:spTree>
    <p:extLst>
      <p:ext uri="{BB962C8B-B14F-4D97-AF65-F5344CB8AC3E}">
        <p14:creationId xmlns:p14="http://schemas.microsoft.com/office/powerpoint/2010/main" val="393042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3B7D2-1290-6B5B-7B1D-0E3CA4B2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52BD7-BE87-5182-9CD5-FC33387DEE20}"/>
              </a:ext>
            </a:extLst>
          </p:cNvPr>
          <p:cNvSpPr txBox="1"/>
          <p:nvPr/>
        </p:nvSpPr>
        <p:spPr>
          <a:xfrm>
            <a:off x="878889" y="235258"/>
            <a:ext cx="5388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Confusion Matrix  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8BEC09-936E-E91E-6F9C-CCBAF0FBE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47659"/>
              </p:ext>
            </p:extLst>
          </p:nvPr>
        </p:nvGraphicFramePr>
        <p:xfrm>
          <a:off x="6782540" y="2836789"/>
          <a:ext cx="4918230" cy="1828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506">
                  <a:extLst>
                    <a:ext uri="{9D8B030D-6E8A-4147-A177-3AD203B41FA5}">
                      <a16:colId xmlns:a16="http://schemas.microsoft.com/office/drawing/2014/main" val="2922708876"/>
                    </a:ext>
                  </a:extLst>
                </a:gridCol>
                <a:gridCol w="1329246">
                  <a:extLst>
                    <a:ext uri="{9D8B030D-6E8A-4147-A177-3AD203B41FA5}">
                      <a16:colId xmlns:a16="http://schemas.microsoft.com/office/drawing/2014/main" val="1899881586"/>
                    </a:ext>
                  </a:extLst>
                </a:gridCol>
                <a:gridCol w="1574478">
                  <a:extLst>
                    <a:ext uri="{9D8B030D-6E8A-4147-A177-3AD203B41FA5}">
                      <a16:colId xmlns:a16="http://schemas.microsoft.com/office/drawing/2014/main" val="2020254597"/>
                    </a:ext>
                  </a:extLst>
                </a:gridCol>
              </a:tblGrid>
              <a:tr h="758667">
                <a:tc>
                  <a:txBody>
                    <a:bodyPr/>
                    <a:lstStyle/>
                    <a:p>
                      <a:r>
                        <a:rPr lang="en-US" dirty="0"/>
                        <a:t>Actual\Predicted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Spam 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70432"/>
                  </a:ext>
                </a:extLst>
              </a:tr>
              <a:tr h="535147">
                <a:tc>
                  <a:txBody>
                    <a:bodyPr/>
                    <a:lstStyle/>
                    <a:p>
                      <a:r>
                        <a:rPr lang="en-US" dirty="0"/>
                        <a:t>Spam 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404233"/>
                  </a:ext>
                </a:extLst>
              </a:tr>
              <a:tr h="535147">
                <a:tc>
                  <a:txBody>
                    <a:bodyPr/>
                    <a:lstStyle/>
                    <a:p>
                      <a:r>
                        <a:rPr lang="en-US" dirty="0"/>
                        <a:t>Not Spam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9782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CE698B-E140-EEA5-61D2-E8E1ABC1157E}"/>
                  </a:ext>
                </a:extLst>
              </p:cNvPr>
              <p:cNvSpPr txBox="1"/>
              <p:nvPr/>
            </p:nvSpPr>
            <p:spPr>
              <a:xfrm>
                <a:off x="1227337" y="2453956"/>
                <a:ext cx="6094520" cy="489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Accuracy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40+45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40+10+45+5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=0.85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85%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CE698B-E140-EEA5-61D2-E8E1ABC11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337" y="2453956"/>
                <a:ext cx="6094520" cy="489365"/>
              </a:xfrm>
              <a:prstGeom prst="rect">
                <a:avLst/>
              </a:prstGeom>
              <a:blipFill>
                <a:blip r:embed="R18fc1de4bbc54c66"/>
                <a:stretch>
                  <a:fillRect l="-80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DCB658-EDEE-266A-BFB9-4A2457936E1A}"/>
                  </a:ext>
                </a:extLst>
              </p:cNvPr>
              <p:cNvSpPr txBox="1"/>
              <p:nvPr/>
            </p:nvSpPr>
            <p:spPr>
              <a:xfrm>
                <a:off x="1227337" y="3336177"/>
                <a:ext cx="3642806" cy="484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Precision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40+10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DCB658-EDEE-266A-BFB9-4A2457936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337" y="3336177"/>
                <a:ext cx="3642806" cy="484300"/>
              </a:xfrm>
              <a:prstGeom prst="rect">
                <a:avLst/>
              </a:prstGeom>
              <a:blipFill>
                <a:blip r:embed="Rc629fc0f824b4898"/>
                <a:stretch>
                  <a:fillRect l="-1338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1996A8-3718-D7A7-E663-6968C0FA1A8E}"/>
                  </a:ext>
                </a:extLst>
              </p:cNvPr>
              <p:cNvSpPr txBox="1"/>
              <p:nvPr/>
            </p:nvSpPr>
            <p:spPr>
              <a:xfrm>
                <a:off x="1227337" y="4328895"/>
                <a:ext cx="6094520" cy="484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Recall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40+5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=0.89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89%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1996A8-3718-D7A7-E663-6968C0FA1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337" y="4328895"/>
                <a:ext cx="6094520" cy="484620"/>
              </a:xfrm>
              <a:prstGeom prst="rect">
                <a:avLst/>
              </a:prstGeom>
              <a:blipFill>
                <a:blip r:embed="R2ab8b8d098604bcc"/>
                <a:stretch>
                  <a:fillRect l="-80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8148ED-E18E-97A4-03A6-14E499699400}"/>
                  </a:ext>
                </a:extLst>
              </p:cNvPr>
              <p:cNvSpPr txBox="1"/>
              <p:nvPr/>
            </p:nvSpPr>
            <p:spPr>
              <a:xfrm>
                <a:off x="1227337" y="5080594"/>
                <a:ext cx="6094520" cy="535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F1 Score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=2×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×0.89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+0.89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=0.84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84%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8148ED-E18E-97A4-03A6-14E499699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337" y="5080594"/>
                <a:ext cx="6094520" cy="535339"/>
              </a:xfrm>
              <a:prstGeom prst="rect">
                <a:avLst/>
              </a:prstGeom>
              <a:blipFill>
                <a:blip r:embed="R2a826e6475764ce8"/>
                <a:stretch>
                  <a:fillRect l="-800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022AE5F-E980-5EEC-CBA8-FD92C14392B5}"/>
              </a:ext>
            </a:extLst>
          </p:cNvPr>
          <p:cNvSpPr txBox="1"/>
          <p:nvPr/>
        </p:nvSpPr>
        <p:spPr>
          <a:xfrm>
            <a:off x="1094172" y="1065649"/>
            <a:ext cx="9543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 scenario where you have developed a model to classify emails as either spam (positive) or not spam (negative). To evaluate the performance of this model, you test it on a dataset containing 100 emails. The results of this test are used to illustrate how a confusion matrix works.</a:t>
            </a:r>
          </a:p>
        </p:txBody>
      </p:sp>
    </p:spTree>
    <p:extLst>
      <p:ext uri="{BB962C8B-B14F-4D97-AF65-F5344CB8AC3E}">
        <p14:creationId xmlns:p14="http://schemas.microsoft.com/office/powerpoint/2010/main" val="1912515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648"/>
          </a:xfrm>
        </p:spPr>
        <p:txBody>
          <a:bodyPr/>
          <a:lstStyle/>
          <a:p>
            <a:r>
              <a:rPr lang="en-US" dirty="0"/>
              <a:t>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9774"/>
                <a:ext cx="6196914" cy="500718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If you need to represent a random event mathematically, e.g., tossing a coin, you need a real-number representation for the sample space</a:t>
                </a:r>
              </a:p>
              <a:p>
                <a:r>
                  <a:rPr lang="en-US" dirty="0"/>
                  <a:t>As Head and Tail do not fil into mathematical framework.</a:t>
                </a:r>
              </a:p>
              <a:p>
                <a:r>
                  <a:rPr lang="en-US" dirty="0"/>
                  <a:t>So you need a mapping from sample space {H,T} to the real numbers {0,1}</a:t>
                </a:r>
              </a:p>
              <a:p>
                <a:r>
                  <a:rPr lang="en-US" dirty="0"/>
                  <a:t>This mapping is represented by the random variable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 it is easy to represent the probability feature of the source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9774"/>
                <a:ext cx="6196914" cy="5007189"/>
              </a:xfrm>
              <a:blipFill rotWithShape="0">
                <a:blip r:embed="R13291958031c4a90"/>
                <a:stretch>
                  <a:fillRect l="-1772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7-Point Star 3"/>
          <p:cNvSpPr/>
          <p:nvPr/>
        </p:nvSpPr>
        <p:spPr>
          <a:xfrm>
            <a:off x="6952735" y="1837038"/>
            <a:ext cx="1944130" cy="2018270"/>
          </a:xfrm>
          <a:prstGeom prst="star7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Sample space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9061621" y="2673178"/>
            <a:ext cx="906162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0239632" y="2310712"/>
            <a:ext cx="1515763" cy="10709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Real-numbers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584" y="2396179"/>
            <a:ext cx="1639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Random variable </a:t>
            </a:r>
            <a:r>
              <a:rPr lang="en-US" sz="1600" dirty="0"/>
              <a:t>X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8122508" y="5395784"/>
            <a:ext cx="2965622" cy="8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8839200" y="4132307"/>
            <a:ext cx="57665" cy="127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9930713" y="4132307"/>
            <a:ext cx="57665" cy="1271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39200" y="5478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37535" y="5478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2985" y="385530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0748" y="387350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0997513" y="5395784"/>
            <a:ext cx="420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816281" y="54781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0173" y="4522572"/>
            <a:ext cx="60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P(X)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1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2313"/>
          </a:xfrm>
        </p:spPr>
        <p:txBody>
          <a:bodyPr/>
          <a:lstStyle/>
          <a:p>
            <a:r>
              <a:rPr lang="en-US" dirty="0"/>
              <a:t>Discrete 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9773"/>
            <a:ext cx="10515600" cy="5007190"/>
          </a:xfrm>
        </p:spPr>
        <p:txBody>
          <a:bodyPr/>
          <a:lstStyle/>
          <a:p>
            <a:r>
              <a:rPr lang="en-US" dirty="0"/>
              <a:t>Discrete random variables have countable number of outcomes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Tossing of coin</a:t>
            </a:r>
          </a:p>
          <a:p>
            <a:pPr lvl="1"/>
            <a:r>
              <a:rPr lang="en-US" dirty="0"/>
              <a:t>Rolling a dice</a:t>
            </a:r>
          </a:p>
          <a:p>
            <a:pPr lvl="1"/>
            <a:r>
              <a:rPr lang="en-US" dirty="0"/>
              <a:t>Disease testing (Infected/Non-infected)</a:t>
            </a:r>
          </a:p>
          <a:p>
            <a:pPr lvl="1"/>
            <a:r>
              <a:rPr lang="en-US" dirty="0"/>
              <a:t>Horse race</a:t>
            </a:r>
          </a:p>
          <a:p>
            <a:pPr lvl="1"/>
            <a:r>
              <a:rPr lang="en-US" dirty="0"/>
              <a:t>Waiting time </a:t>
            </a:r>
          </a:p>
          <a:p>
            <a:pPr lvl="1"/>
            <a:r>
              <a:rPr lang="en-US" dirty="0"/>
              <a:t>Arrival time</a:t>
            </a:r>
          </a:p>
          <a:p>
            <a:pPr lvl="1"/>
            <a:r>
              <a:rPr lang="en-US" dirty="0"/>
              <a:t>Weather forecast</a:t>
            </a:r>
          </a:p>
          <a:p>
            <a:pPr lvl="1"/>
            <a:r>
              <a:rPr lang="en-US" dirty="0"/>
              <a:t>Chance of success/failure</a:t>
            </a:r>
          </a:p>
          <a:p>
            <a:pPr lvl="1"/>
            <a:r>
              <a:rPr lang="en-US" dirty="0"/>
              <a:t>Random choice from a given set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7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172"/>
          </a:xfrm>
        </p:spPr>
        <p:txBody>
          <a:bodyPr/>
          <a:lstStyle/>
          <a:p>
            <a:r>
              <a:rPr lang="en-US" dirty="0"/>
              <a:t>PMF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3298"/>
                <a:ext cx="10515600" cy="5023665"/>
              </a:xfrm>
            </p:spPr>
            <p:txBody>
              <a:bodyPr/>
              <a:lstStyle/>
              <a:p>
                <a:r>
                  <a:rPr lang="en-US" dirty="0"/>
                  <a:t>The probability distribution of a discrete RV is represented by using the probability mass function (PMF), i.e.,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Properties of PMF: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Area under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1, i.e.,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Rolling of a dice: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3298"/>
                <a:ext cx="10515600" cy="5023665"/>
              </a:xfrm>
              <a:blipFill rotWithShape="0">
                <a:blip r:embed="R5e7404d13f3a4ced"/>
                <a:stretch>
                  <a:fillRect l="-1043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00" y="4373005"/>
            <a:ext cx="3278917" cy="18039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3799832"/>
            <a:ext cx="2166552" cy="275259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53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5837"/>
          </a:xfrm>
        </p:spPr>
        <p:txBody>
          <a:bodyPr/>
          <a:lstStyle/>
          <a:p>
            <a:r>
              <a:rPr lang="en-US" dirty="0"/>
              <a:t>CDF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0962"/>
                <a:ext cx="10515600" cy="4966001"/>
              </a:xfrm>
            </p:spPr>
            <p:txBody>
              <a:bodyPr/>
              <a:lstStyle/>
              <a:p>
                <a:r>
                  <a:rPr lang="en-US" dirty="0"/>
                  <a:t>CDF stands for cumulative distribution function</a:t>
                </a:r>
              </a:p>
              <a:p>
                <a:r>
                  <a:rPr lang="en-US" dirty="0"/>
                  <a:t>Representation: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Rolling of a dice: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0962"/>
                <a:ext cx="10515600" cy="4966001"/>
              </a:xfrm>
              <a:blipFill rotWithShape="0">
                <a:blip r:embed="Ra2271f22b8e241e3"/>
                <a:stretch>
                  <a:fillRect l="-1043" t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308" y="3048000"/>
            <a:ext cx="2995870" cy="30150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26" y="3193449"/>
            <a:ext cx="3971925" cy="2724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763123" y="3139964"/>
                <a:ext cx="8075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123" y="3139964"/>
                <a:ext cx="807592" cy="369332"/>
              </a:xfrm>
              <a:prstGeom prst="rect">
                <a:avLst/>
              </a:prstGeom>
              <a:blipFill rotWithShape="0">
                <a:blip r:embed="Raff130e8abf84f6f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53" y="1031575"/>
            <a:ext cx="2306595" cy="9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5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</p:spPr>
        <p:txBody>
          <a:bodyPr/>
          <a:lstStyle/>
          <a:p>
            <a:r>
              <a:rPr lang="en-US" dirty="0"/>
              <a:t>Practice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6822"/>
                <a:ext cx="10515600" cy="5040141"/>
              </a:xfrm>
            </p:spPr>
            <p:txBody>
              <a:bodyPr/>
              <a:lstStyle/>
              <a:p>
                <a:r>
                  <a:rPr lang="en-US" dirty="0"/>
                  <a:t>The number of patients seen in hospital in any given hour is a random variable represented by x. The probability distribution for x is: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Find the probability that in a given hour:</a:t>
                </a:r>
              </a:p>
              <a:p>
                <a:pPr marL="514350" indent="-514350">
                  <a:buAutoNum type="alphaLcPeriod"/>
                </a:pPr>
                <a:r>
                  <a:rPr lang="en-US" dirty="0"/>
                  <a:t>Exactly 14 patients arrive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=14)=0.1 </m:t>
                    </m:r>
                  </m:oMath>
                </a14:m>
                <a:endParaRPr lang="en-US" dirty="0"/>
              </a:p>
              <a:p>
                <a:pPr marL="514350" indent="-514350">
                  <a:buAutoNum type="alphaLcPeriod"/>
                </a:pPr>
                <a:r>
                  <a:rPr lang="en-US" dirty="0"/>
                  <a:t>At least 12 patients arrive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&gt;=12)= (.2 + .1 +.1) =0.4 </m:t>
                    </m:r>
                  </m:oMath>
                </a14:m>
                <a:endParaRPr lang="en-US" dirty="0"/>
              </a:p>
              <a:p>
                <a:pPr marL="514350" indent="-514350">
                  <a:buAutoNum type="alphaLcPeriod"/>
                </a:pPr>
                <a:r>
                  <a:rPr lang="en-US" dirty="0"/>
                  <a:t>At most 11 patients arrive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≤11)= (.4 +.2) =0.6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6822"/>
                <a:ext cx="10515600" cy="5040141"/>
              </a:xfrm>
              <a:blipFill>
                <a:blip r:embed="rId2"/>
                <a:stretch>
                  <a:fillRect l="-1217" t="-1935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35" y="2154001"/>
            <a:ext cx="5321643" cy="100932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34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270"/>
          </a:xfrm>
        </p:spPr>
        <p:txBody>
          <a:bodyPr/>
          <a:lstStyle/>
          <a:p>
            <a:r>
              <a:rPr lang="en-US" dirty="0"/>
              <a:t>Discrete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3298"/>
            <a:ext cx="10515600" cy="50236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Bernoulli Distribution</a:t>
            </a:r>
          </a:p>
          <a:p>
            <a:pPr lvl="1"/>
            <a:r>
              <a:rPr lang="en-US" dirty="0"/>
              <a:t>Single trial of success/failure</a:t>
            </a:r>
          </a:p>
          <a:p>
            <a:pPr lvl="1"/>
            <a:r>
              <a:rPr lang="en-US" dirty="0"/>
              <a:t>Flipping a coin</a:t>
            </a:r>
          </a:p>
          <a:p>
            <a:pPr lvl="1"/>
            <a:r>
              <a:rPr lang="en-US" dirty="0"/>
              <a:t>Disease testing (positive/negative)</a:t>
            </a:r>
          </a:p>
          <a:p>
            <a:r>
              <a:rPr lang="en-US" dirty="0"/>
              <a:t>Binomial Distribution</a:t>
            </a:r>
          </a:p>
          <a:p>
            <a:pPr lvl="1"/>
            <a:r>
              <a:rPr lang="en-US" dirty="0"/>
              <a:t>Flipping a coin n number of times and calculating the probabilities of getting a particular number of heads</a:t>
            </a:r>
          </a:p>
          <a:p>
            <a:pPr lvl="1"/>
            <a:r>
              <a:rPr lang="en-US" dirty="0"/>
              <a:t>Number of successful sales calls for a company; out of n calls</a:t>
            </a:r>
          </a:p>
          <a:p>
            <a:pPr lvl="1"/>
            <a:r>
              <a:rPr lang="en-US" dirty="0"/>
              <a:t>Whether a drug works for a disease or not; tried for n patients</a:t>
            </a:r>
          </a:p>
          <a:p>
            <a:r>
              <a:rPr lang="en-US" dirty="0"/>
              <a:t>Poisson Distribution</a:t>
            </a:r>
          </a:p>
          <a:p>
            <a:pPr lvl="1"/>
            <a:r>
              <a:rPr lang="en-US" dirty="0"/>
              <a:t>Average number of calls per hour in a call center</a:t>
            </a:r>
          </a:p>
          <a:p>
            <a:pPr lvl="1"/>
            <a:r>
              <a:rPr lang="en-US" dirty="0"/>
              <a:t>Waiting time in a queue</a:t>
            </a:r>
          </a:p>
          <a:p>
            <a:pPr lvl="1"/>
            <a:r>
              <a:rPr lang="en-US" dirty="0"/>
              <a:t>Arrival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01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4314"/>
            <a:ext cx="10515600" cy="321276"/>
          </a:xfrm>
        </p:spPr>
        <p:txBody>
          <a:bodyPr>
            <a:normAutofit fontScale="90000"/>
          </a:bodyPr>
          <a:lstStyle/>
          <a:p>
            <a:r>
              <a:rPr lang="en-US" dirty="0"/>
              <a:t>Bernoulli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103"/>
                <a:ext cx="10515600" cy="4891860"/>
              </a:xfrm>
            </p:spPr>
            <p:txBody>
              <a:bodyPr/>
              <a:lstStyle/>
              <a:p>
                <a:r>
                  <a:rPr lang="en-US" dirty="0"/>
                  <a:t>This distribution is generated when we perform an experiment once and it has only two possible outcomes – success (1) and failure (0)</a:t>
                </a:r>
              </a:p>
              <a:p>
                <a:r>
                  <a:rPr lang="en-US" dirty="0"/>
                  <a:t>PMF: 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       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CDF: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       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, 0≤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1,        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103"/>
                <a:ext cx="10515600" cy="4891860"/>
              </a:xfrm>
              <a:blipFill rotWithShape="0">
                <a:blip r:embed="R70cd2d341723465d"/>
                <a:stretch>
                  <a:fillRect l="-1043" t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886" y="2249573"/>
            <a:ext cx="2545491" cy="10702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886" y="3319850"/>
            <a:ext cx="2825579" cy="166404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56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070"/>
          </a:xfrm>
        </p:spPr>
        <p:txBody>
          <a:bodyPr/>
          <a:lstStyle/>
          <a:p>
            <a:r>
              <a:rPr lang="en-US" dirty="0"/>
              <a:t>Mean of Discrete RV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6951"/>
                <a:ext cx="10515600" cy="462001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Mean of a discrete RV with </a:t>
                </a:r>
              </a:p>
              <a:p>
                <a:pPr lvl="1"/>
                <a:r>
                  <a:rPr lang="en-US" dirty="0"/>
                  <a:t>sample space: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}  </a:t>
                </a:r>
              </a:p>
              <a:p>
                <a:pPr lvl="1"/>
                <a:r>
                  <a:rPr lang="en-US" dirty="0"/>
                  <a:t>PMF: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}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Mean=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Mean of a dice throw: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1+2+3+4+5+6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Mean of Bernoulli RV: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.1+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.0=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6951"/>
                <a:ext cx="10515600" cy="4620012"/>
              </a:xfrm>
              <a:blipFill rotWithShape="0">
                <a:blip r:embed="R4448114da32743ca"/>
                <a:stretch>
                  <a:fillRect l="-928" t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10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2886"/>
          </a:xfrm>
        </p:spPr>
        <p:txBody>
          <a:bodyPr>
            <a:normAutofit/>
          </a:bodyPr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5147"/>
                <a:ext cx="7613822" cy="4555523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Suppose the probability of a student passing in exam is 0.75 (p) and falling 0.25 (1-p), Bernoulli distributed success/failure RV, say X taking two states 1 (pass) and 0 (fail)</a:t>
                </a:r>
              </a:p>
              <a:p>
                <a:pPr algn="just"/>
                <a:r>
                  <a:rPr lang="en-US" dirty="0"/>
                  <a:t>Now, we want to know if the student appears in four exams, what is the probability of passing in 0,1,2,3,4 exams, so there are 4 Bernoulli RVs X1, X2, X3, X4 but all are identically distributed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Let us do the calculation for the student passing in k=0,1,2,3,4 exams out of n=4 exams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5147"/>
                <a:ext cx="7613822" cy="4555523"/>
              </a:xfrm>
              <a:blipFill rotWithShape="0">
                <a:blip r:embed="Rc900c8d4c6c34a9e"/>
                <a:stretch>
                  <a:fillRect l="-1442" t="-3079" r="-1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How to pass the biochemistry exam at university. | Ude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731" y="1425147"/>
            <a:ext cx="3044740" cy="217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928318" y="4010468"/>
            <a:ext cx="266729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Let us define a new RV, Y; P(Y=k) means the probability of passing in k exams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8168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983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43914"/>
                <a:ext cx="7234881" cy="493304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 example, Y=2 mean, the student is passing in 2 exams but failing in other 2 exams, </a:t>
                </a:r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P(X1=1) P(X2=1) P(X3=0) P(X4=0)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           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But other case is also possible: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P(X1=1) P(X2=0) P(X3=1) P(X4=0)</a:t>
                </a:r>
              </a:p>
              <a:p>
                <a:pPr marL="0" indent="0" algn="ctr">
                  <a:buNone/>
                </a:pPr>
                <a:r>
                  <a:rPr lang="en-US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Other cases are also possible, actually total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sSub>
                          <m:sSubPr>
                            <m:ctrlP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2!2!</m:t>
                        </m:r>
                      </m:den>
                    </m:f>
                    <m:r>
                      <a:rPr lang="en-US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cases possible</a:t>
                </a:r>
              </a:p>
              <a:p>
                <a:pPr algn="just"/>
                <a:r>
                  <a:rPr lang="en-US" dirty="0"/>
                  <a:t>Hence, sum of probabilities of all such cases will be: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sSub>
                          <m:sSubPr>
                            <m:ctrlP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 general,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43914"/>
                <a:ext cx="7234881" cy="4933049"/>
              </a:xfrm>
              <a:blipFill rotWithShape="0">
                <a:blip r:embed="Rb107adcb3c1c46fd"/>
                <a:stretch>
                  <a:fillRect l="-1264" t="-3090" r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610" y="1574971"/>
            <a:ext cx="3295135" cy="3367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82681" y="5123935"/>
                <a:ext cx="1680519" cy="527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!(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)!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681" y="5123935"/>
                <a:ext cx="1680519" cy="527004"/>
              </a:xfrm>
              <a:prstGeom prst="rect">
                <a:avLst/>
              </a:prstGeom>
              <a:blipFill rotWithShape="0">
                <a:blip r:embed="Rd4449a6d61c8406d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77665" y="5650939"/>
                <a:ext cx="3676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….3.2.1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665" y="5650939"/>
                <a:ext cx="3676135" cy="369332"/>
              </a:xfrm>
              <a:prstGeom prst="rect">
                <a:avLst/>
              </a:prstGeom>
              <a:blipFill rotWithShape="0">
                <a:blip r:embed="R6b55ac2d245241de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24</a:t>
            </a:fld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0610335" y="2669059"/>
            <a:ext cx="568410" cy="1342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0651524" y="4053016"/>
            <a:ext cx="527221" cy="477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461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983"/>
          </a:xfrm>
        </p:spPr>
        <p:txBody>
          <a:bodyPr/>
          <a:lstStyle/>
          <a:p>
            <a:r>
              <a:rPr lang="en-US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103"/>
                <a:ext cx="5546124" cy="4891860"/>
              </a:xfrm>
            </p:spPr>
            <p:txBody>
              <a:bodyPr/>
              <a:lstStyle/>
              <a:p>
                <a:r>
                  <a:rPr lang="en-US" dirty="0"/>
                  <a:t>PMF: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CDF: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Mean: np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103"/>
                <a:ext cx="5546124" cy="4891860"/>
              </a:xfrm>
              <a:blipFill rotWithShape="0">
                <a:blip r:embed="R3f8c6ba4307140de"/>
                <a:stretch>
                  <a:fillRect l="-1980" t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285103"/>
            <a:ext cx="3652966" cy="2133600"/>
          </a:xfrm>
          <a:prstGeom prst="rect">
            <a:avLst/>
          </a:prstGeom>
        </p:spPr>
      </p:pic>
      <p:pic>
        <p:nvPicPr>
          <p:cNvPr id="6146" name="Picture 2" descr="Binomial Probabil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530" y="3591698"/>
            <a:ext cx="3225714" cy="231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3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89500-137D-CF99-0AE4-45D6A8B0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F410D-D9CD-BA2F-ACA4-2BDE177A17CA}"/>
              </a:ext>
            </a:extLst>
          </p:cNvPr>
          <p:cNvSpPr txBox="1"/>
          <p:nvPr/>
        </p:nvSpPr>
        <p:spPr>
          <a:xfrm>
            <a:off x="2247530" y="1953087"/>
            <a:ext cx="7696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i="1" dirty="0"/>
              <a:t>Continuous 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2277580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2356"/>
          </a:xfrm>
        </p:spPr>
        <p:txBody>
          <a:bodyPr/>
          <a:lstStyle/>
          <a:p>
            <a:r>
              <a:rPr lang="en-US" dirty="0"/>
              <a:t>Continuous 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378"/>
            <a:ext cx="10515600" cy="4570585"/>
          </a:xfrm>
        </p:spPr>
        <p:txBody>
          <a:bodyPr/>
          <a:lstStyle/>
          <a:p>
            <a:r>
              <a:rPr lang="en-US" dirty="0"/>
              <a:t>Cumulative Distribution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27</a:t>
            </a:fld>
            <a:endParaRPr lang="en-US"/>
          </a:p>
        </p:txBody>
      </p:sp>
      <p:pic>
        <p:nvPicPr>
          <p:cNvPr id="5" name="Picture 2" descr="Binomial Probabi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048" y="2734254"/>
            <a:ext cx="3225714" cy="231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umulative distribution function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735" y="2734254"/>
            <a:ext cx="3789406" cy="226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476297" y="5103316"/>
            <a:ext cx="1255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Discrete RV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9830" y="5176652"/>
            <a:ext cx="156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Continuous RV</a:t>
            </a:r>
          </a:p>
        </p:txBody>
      </p:sp>
    </p:spTree>
    <p:extLst>
      <p:ext uri="{BB962C8B-B14F-4D97-AF65-F5344CB8AC3E}">
        <p14:creationId xmlns:p14="http://schemas.microsoft.com/office/powerpoint/2010/main" val="2054432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</p:spPr>
        <p:txBody>
          <a:bodyPr>
            <a:normAutofit/>
          </a:bodyPr>
          <a:lstStyle/>
          <a:p>
            <a:r>
              <a:rPr lang="en-US" dirty="0"/>
              <a:t>Continuous 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822"/>
            <a:ext cx="10515600" cy="5040141"/>
          </a:xfrm>
        </p:spPr>
        <p:txBody>
          <a:bodyPr/>
          <a:lstStyle/>
          <a:p>
            <a:r>
              <a:rPr lang="en-US" dirty="0"/>
              <a:t>Cumulative Distribution function:</a:t>
            </a:r>
          </a:p>
          <a:p>
            <a:endParaRPr lang="en-US" dirty="0"/>
          </a:p>
          <a:p>
            <a:r>
              <a:rPr lang="en-US" dirty="0"/>
              <a:t>Properties: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908" y="1792116"/>
            <a:ext cx="4867275" cy="3905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439" y="1612901"/>
            <a:ext cx="3019425" cy="2324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520" y="2806400"/>
            <a:ext cx="4524375" cy="514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333" y="3772028"/>
            <a:ext cx="6591300" cy="4286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6783" y="4651931"/>
            <a:ext cx="641985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05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210"/>
          </a:xfrm>
        </p:spPr>
        <p:txBody>
          <a:bodyPr/>
          <a:lstStyle/>
          <a:p>
            <a:r>
              <a:rPr lang="en-US" dirty="0"/>
              <a:t>Probability Density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6951"/>
            <a:ext cx="10515600" cy="462001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29</a:t>
            </a:fld>
            <a:endParaRPr lang="en-US"/>
          </a:p>
        </p:txBody>
      </p:sp>
      <p:pic>
        <p:nvPicPr>
          <p:cNvPr id="2050" name="Picture 2" descr="The ABCs of CDFs: A Beginner's Guide to Machine Learning | by Akash  Srivastava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753" y="2054459"/>
            <a:ext cx="5605847" cy="213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080" y="4390528"/>
            <a:ext cx="41433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835" y="5218130"/>
            <a:ext cx="70770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40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545"/>
          </a:xfrm>
        </p:spPr>
        <p:txBody>
          <a:bodyPr/>
          <a:lstStyle/>
          <a:p>
            <a:r>
              <a:rPr lang="en-US" dirty="0"/>
              <a:t>PDF Properties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541" y="1558171"/>
            <a:ext cx="3333750" cy="561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541" y="2534906"/>
            <a:ext cx="3429000" cy="8953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98" y="4256738"/>
            <a:ext cx="3418445" cy="2075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70854" y="4602208"/>
            <a:ext cx="72575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Property 1 satisfied</a:t>
            </a:r>
          </a:p>
          <a:p>
            <a:r>
              <a:rPr lang="en-US" sz="2800" dirty="0"/>
              <a:t>2. Area under curve=(1/2)x2x1=1</a:t>
            </a:r>
          </a:p>
          <a:p>
            <a:r>
              <a:rPr lang="en-US" sz="2800" dirty="0">
                <a:solidFill>
                  <a:srgbClr val="FF0000"/>
                </a:solidFill>
              </a:rPr>
              <a:t>VALID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4487" y="3838853"/>
            <a:ext cx="2265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this a valid PDF?</a:t>
            </a:r>
          </a:p>
        </p:txBody>
      </p:sp>
    </p:spTree>
    <p:extLst>
      <p:ext uri="{BB962C8B-B14F-4D97-AF65-F5344CB8AC3E}">
        <p14:creationId xmlns:p14="http://schemas.microsoft.com/office/powerpoint/2010/main" val="1836533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264"/>
          </a:xfrm>
        </p:spPr>
        <p:txBody>
          <a:bodyPr/>
          <a:lstStyle/>
          <a:p>
            <a:r>
              <a:rPr lang="en-US" dirty="0"/>
              <a:t>Exponential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60390"/>
            <a:ext cx="10604157" cy="4916573"/>
          </a:xfrm>
        </p:spPr>
        <p:txBody>
          <a:bodyPr/>
          <a:lstStyle/>
          <a:p>
            <a:pPr lvl="1"/>
            <a:r>
              <a:rPr lang="en-US" dirty="0"/>
              <a:t>The negative exponential PDF (in probability, this is called an “exponential distribution”):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This function integrates to 1: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798" y="2059471"/>
            <a:ext cx="1419225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736" y="3576756"/>
            <a:ext cx="3590925" cy="104775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326" y="3051969"/>
            <a:ext cx="38957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04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021"/>
          </a:xfrm>
        </p:spPr>
        <p:txBody>
          <a:bodyPr/>
          <a:lstStyle/>
          <a:p>
            <a:r>
              <a:rPr lang="en-US" dirty="0"/>
              <a:t>Probability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9286"/>
            <a:ext cx="10515600" cy="4677677"/>
          </a:xfrm>
        </p:spPr>
        <p:txBody>
          <a:bodyPr/>
          <a:lstStyle/>
          <a:p>
            <a:r>
              <a:rPr lang="en-US" dirty="0"/>
              <a:t>From the PDF curve, we can find probability of the RV lying between two values a and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89" y="3553296"/>
            <a:ext cx="4011827" cy="21886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845" y="2420615"/>
            <a:ext cx="649605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84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648"/>
          </a:xfrm>
        </p:spPr>
        <p:txBody>
          <a:bodyPr>
            <a:normAutofit/>
          </a:bodyPr>
          <a:lstStyle/>
          <a:p>
            <a:r>
              <a:rPr lang="en-US" sz="3600" dirty="0"/>
              <a:t>For example, the probability of x falling within 1 to 2: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83" y="1442523"/>
            <a:ext cx="6867525" cy="3248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170" y="4754262"/>
            <a:ext cx="7229475" cy="9906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6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453"/>
          </a:xfrm>
        </p:spPr>
        <p:txBody>
          <a:bodyPr/>
          <a:lstStyle/>
          <a:p>
            <a:r>
              <a:rPr lang="en-US" dirty="0"/>
              <a:t>Expectation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086" y="1419353"/>
            <a:ext cx="8336691" cy="411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24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691"/>
          </a:xfrm>
        </p:spPr>
        <p:txBody>
          <a:bodyPr/>
          <a:lstStyle/>
          <a:p>
            <a:r>
              <a:rPr lang="en-US" dirty="0"/>
              <a:t>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4573"/>
                <a:ext cx="6411097" cy="4702390"/>
              </a:xfrm>
            </p:spPr>
            <p:txBody>
              <a:bodyPr/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]=</m:t>
                    </m:r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This means that the MEAN of the Exponential RV is unity</a:t>
                </a:r>
              </a:p>
              <a:p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both are Exponential distributed RVs,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=1+1=2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4573"/>
                <a:ext cx="6411097" cy="4702390"/>
              </a:xfrm>
              <a:blipFill rotWithShape="0">
                <a:blip r:embed="R637c2a2e0fd54224"/>
                <a:stretch>
                  <a:fillRect l="-1713" t="-2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68" y="1474573"/>
            <a:ext cx="41529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3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172"/>
          </a:xfrm>
        </p:spPr>
        <p:txBody>
          <a:bodyPr/>
          <a:lstStyle/>
          <a:p>
            <a:r>
              <a:rPr lang="en-US" dirty="0"/>
              <a:t>Variance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86" y="1663335"/>
            <a:ext cx="9275805" cy="409420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87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0594"/>
          </a:xfrm>
        </p:spPr>
        <p:txBody>
          <a:bodyPr/>
          <a:lstStyle/>
          <a:p>
            <a:r>
              <a:rPr lang="en-US" dirty="0"/>
              <a:t>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1049"/>
                <a:ext cx="7144265" cy="468591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Mean(X)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Var</a:t>
                </a:r>
                <a:r>
                  <a:rPr lang="en-US" dirty="0"/>
                  <a:t>(X)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1/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=2/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>
                          <a:latin typeface="Cambria Math" panose="02040503050406030204" pitchFamily="18" charset="0"/>
                        </a:rPr>
                        <m:t>−1/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>
                          <a:latin typeface="Cambria Math" panose="02040503050406030204" pitchFamily="18" charset="0"/>
                        </a:rPr>
                        <m:t>=1/</m:t>
                      </m:r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CDF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1049"/>
                <a:ext cx="7144265" cy="4685914"/>
              </a:xfrm>
              <a:blipFill rotWithShape="0">
                <a:blip r:embed="Re81cbc02b59f4ee6"/>
                <a:stretch>
                  <a:fillRect l="-1366"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37</a:t>
            </a:fld>
            <a:endParaRPr lang="en-US"/>
          </a:p>
        </p:txBody>
      </p:sp>
      <p:pic>
        <p:nvPicPr>
          <p:cNvPr id="4098" name="Picture 2" descr="Exponential distribution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969" y="701848"/>
            <a:ext cx="4415480" cy="385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28237" y="4557154"/>
                <a:ext cx="372556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Lower the value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/>
                  <a:t>, greater is variance; </a:t>
                </a:r>
              </a:p>
              <a:p>
                <a:r>
                  <a:rPr lang="en-US" sz="1600" dirty="0"/>
                  <a:t>hence larger spread of the PDF curve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237" y="4557154"/>
                <a:ext cx="3725563" cy="584775"/>
              </a:xfrm>
              <a:prstGeom prst="rect">
                <a:avLst/>
              </a:prstGeom>
              <a:blipFill rotWithShape="0">
                <a:blip r:embed="Re667f1985be14b02"/>
                <a:stretch>
                  <a:fillRect l="-817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491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dirty="0"/>
              <a:t>Applications in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4941287"/>
          </a:xfrm>
        </p:spPr>
        <p:txBody>
          <a:bodyPr/>
          <a:lstStyle/>
          <a:p>
            <a:r>
              <a:rPr lang="en-US" dirty="0"/>
              <a:t>On the average, a certain computer part lasts ten years. The length of time the computer part lasts is exponentially distributed.</a:t>
            </a:r>
          </a:p>
          <a:p>
            <a:pPr marL="0" indent="0">
              <a:buNone/>
            </a:pPr>
            <a:r>
              <a:rPr lang="en-US" dirty="0"/>
              <a:t>What is the probability that a computer part lasts more than 7 years?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5" y="2540273"/>
            <a:ext cx="5063704" cy="2651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56279" y="5257969"/>
                <a:ext cx="2488823" cy="656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i="1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b="0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sSup>
                        <m:sSupPr>
                          <m:ctrlP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en-US" b="0" i="1">
                                  <a:solidFill>
                                    <a:srgbClr val="42424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i="1">
                                  <a:solidFill>
                                    <a:srgbClr val="42424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en-US" b="0" i="1">
                                  <a:solidFill>
                                    <a:srgbClr val="424242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sup>
                      </m:sSup>
                      <m:r>
                        <a:rPr lang="en-US" altLang="en-US" b="0" i="1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1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en-US" i="1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279" y="5257969"/>
                <a:ext cx="2488823" cy="656142"/>
              </a:xfrm>
              <a:prstGeom prst="rect">
                <a:avLst/>
              </a:prstGeom>
              <a:blipFill>
                <a:blip r:embed="R4b2eb17dd4464a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81290" y="5885376"/>
                <a:ext cx="3029419" cy="583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en-US" dirty="0">
                    <a:solidFill>
                      <a:srgbClr val="424242"/>
                    </a:solidFill>
                  </a:rPr>
                  <a:t>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en-US" i="1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en-US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b="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b="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  <m:sSup>
                          <m:sSupPr>
                            <m:ctrlP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en-US" i="1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i="1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en-US" i="1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den>
                            </m:f>
                          </m:sup>
                        </m:sSup>
                        <m:r>
                          <a:rPr lang="en-US" altLang="en-US" b="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en-US" b="0" i="1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en-US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en-US" i="1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290" y="5885376"/>
                <a:ext cx="3029419" cy="583173"/>
              </a:xfrm>
              <a:prstGeom prst="rect">
                <a:avLst/>
              </a:prstGeom>
              <a:blipFill>
                <a:blip r:embed="R5068b6db6d454dee"/>
                <a:stretch>
                  <a:fillRect l="-1815"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3705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7340D-E435-5E8E-3DE6-CC9CDBB9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924464" y="1483558"/>
                <a:ext cx="10343071" cy="4339458"/>
              </a:xfrm>
              <a:prstGeom prst="rect">
                <a:avLst/>
              </a:prstGeom>
              <a:solidFill>
                <a:srgbClr val="EDEDED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Let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= the amount of time (in years) a computer part lasts.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32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;</m:t>
                    </m:r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en-US" sz="3200" b="0" i="1" u="none" strike="noStrike" cap="none" normalizeH="0" baseline="0">
                            <a:ln>
                              <a:noFill/>
                            </a:ln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0" lang="en-US" altLang="en-US" sz="3200" b="0" i="1" u="none" strike="noStrike" cap="none" normalizeH="0" baseline="0">
                        <a:ln>
                          <a:noFill/>
                        </a:ln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b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</a:b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P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(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&gt; 7) = 1 –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P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(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&lt; 7).</a:t>
                </a:r>
                <a:b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</a:b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Since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P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(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&lt;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)= </a:t>
                </a:r>
                <a14:m>
                  <m:oMath xmlns:m="http://schemas.openxmlformats.org/officeDocument/2006/math">
                    <m:r>
                      <a:rPr lang="en-US" altLang="en-US" sz="32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en-US" sz="32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</a:t>
                </a:r>
              </a:p>
              <a:p>
                <a:pPr lvl="0"/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then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P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(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&gt;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) = 1 – (</a:t>
                </a:r>
                <a14:m>
                  <m:oMath xmlns:m="http://schemas.openxmlformats.org/officeDocument/2006/math">
                    <m:r>
                      <a:rPr lang="en-US" altLang="en-US" sz="3200" i="1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) =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en-US" sz="3200" i="1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b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</a:b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P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(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x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&gt; 7) = </a:t>
                </a:r>
                <a:r>
                  <a:rPr kumimoji="0" lang="en-US" altLang="en-US" sz="3200" b="0" i="1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e</a:t>
                </a:r>
                <a:r>
                  <a:rPr kumimoji="0" lang="en-US" altLang="en-US" sz="3200" b="0" i="0" u="none" strike="noStrike" cap="none" normalizeH="0" baseline="3000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(–0.1)(7)</a:t>
                </a: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 = 0.4966.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3200" b="0" i="0" u="none" strike="noStrike" cap="none" normalizeH="0" baseline="0" dirty="0">
                    <a:ln>
                      <a:noFill/>
                    </a:ln>
                    <a:solidFill>
                      <a:srgbClr val="424242"/>
                    </a:solidFill>
                    <a:effectLst/>
                    <a:latin typeface="Neue Helvetica W01"/>
                  </a:rPr>
                  <a:t>The probability that a computer part lasts more than seven years is 0.4966.</a:t>
                </a:r>
                <a:endParaRPr kumimoji="0" lang="en-US" alt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9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464" y="1483558"/>
                <a:ext cx="10343071" cy="4339458"/>
              </a:xfrm>
              <a:prstGeom prst="rect">
                <a:avLst/>
              </a:prstGeom>
              <a:blipFill>
                <a:blip r:embed="Ree80c0a20c9e4075"/>
                <a:stretch>
                  <a:fillRect l="-1533" t="-1264" b="-4354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358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1783"/>
          </a:xfrm>
        </p:spPr>
        <p:txBody>
          <a:bodyPr/>
          <a:lstStyle/>
          <a:p>
            <a:r>
              <a:rPr lang="en-US" dirty="0"/>
              <a:t>Uniform Distribution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571925"/>
            <a:ext cx="970597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79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8832"/>
          </a:xfrm>
        </p:spPr>
        <p:txBody>
          <a:bodyPr/>
          <a:lstStyle/>
          <a:p>
            <a:r>
              <a:rPr lang="en-US" dirty="0"/>
              <a:t>Example: Uniform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634" y="1318825"/>
            <a:ext cx="9794788" cy="461924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41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070"/>
          </a:xfrm>
        </p:spPr>
        <p:txBody>
          <a:bodyPr/>
          <a:lstStyle/>
          <a:p>
            <a:r>
              <a:rPr lang="en-US" dirty="0"/>
              <a:t>Uniform Distribution: General Case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77" y="1294241"/>
            <a:ext cx="9195269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30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210"/>
          </a:xfrm>
        </p:spPr>
        <p:txBody>
          <a:bodyPr>
            <a:normAutofit fontScale="90000"/>
          </a:bodyPr>
          <a:lstStyle/>
          <a:p>
            <a:r>
              <a:rPr lang="en-US" dirty="0"/>
              <a:t>Mean and Variance for the Uniform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16" y="1759549"/>
            <a:ext cx="9259330" cy="427878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04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1783"/>
          </a:xfrm>
        </p:spPr>
        <p:txBody>
          <a:bodyPr/>
          <a:lstStyle/>
          <a:p>
            <a:r>
              <a:rPr lang="en-US" dirty="0"/>
              <a:t>NORMAL DISTRIBUTION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37" y="1655806"/>
            <a:ext cx="6268739" cy="369878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676" y="1416908"/>
            <a:ext cx="4149297" cy="3338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16410" y="5063121"/>
                <a:ext cx="175163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/>
                  <a:t>Mean: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Variance: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SD: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410" y="5063121"/>
                <a:ext cx="1751633" cy="1200329"/>
              </a:xfrm>
              <a:prstGeom prst="rect">
                <a:avLst/>
              </a:prstGeom>
              <a:blipFill rotWithShape="0">
                <a:blip r:embed="Rb2c7e034fb2c4177"/>
                <a:stretch>
                  <a:fillRect l="-5208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5060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223E0F-8B99-C922-4F30-5F75D0BD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39861"/>
            <a:ext cx="5294716" cy="297827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1882DFB-F593-D5CA-5715-006938F9E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939862"/>
            <a:ext cx="5294715" cy="29782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1BE41-72F2-EADE-E6DF-C96CB0BF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7304300-9233-462C-982D-1DF6FDE7BCD7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53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NORMAL DISTRIBUTION: AS MATHEMATICAL FUNCTION (PDF)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186" y="1825625"/>
            <a:ext cx="7772400" cy="44100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7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 IS DEFINED BY ITS MEAN AND STANDARD DEV.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29232" y="3918916"/>
                <a:ext cx="17268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232" y="3918916"/>
                <a:ext cx="1726819" cy="400110"/>
              </a:xfrm>
              <a:prstGeom prst="rect">
                <a:avLst/>
              </a:prstGeom>
              <a:blipFill rotWithShape="0">
                <a:blip r:embed="R12dc3752eb944d4b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35" y="1690688"/>
            <a:ext cx="9505435" cy="460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91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MEAN &amp; STANDARD DEVIATION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561" y="1690688"/>
            <a:ext cx="7953375" cy="448627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738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MEAN &amp; STANDARD DEVIATION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113" y="1690688"/>
            <a:ext cx="8229600" cy="46672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59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167"/>
          </a:xfrm>
        </p:spPr>
        <p:txBody>
          <a:bodyPr/>
          <a:lstStyle/>
          <a:p>
            <a:r>
              <a:rPr lang="en-US" dirty="0"/>
              <a:t>Tail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5146"/>
                <a:ext cx="10515600" cy="4751817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5146"/>
                <a:ext cx="10515600" cy="4751817"/>
              </a:xfrm>
              <a:blipFill rotWithShape="0">
                <a:blip r:embed="R9c5962fb82d645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722" y="1138335"/>
            <a:ext cx="5040571" cy="30846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484266" y="2496065"/>
                <a:ext cx="2252668" cy="558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14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266" y="2496065"/>
                <a:ext cx="2252668" cy="558294"/>
              </a:xfrm>
              <a:prstGeom prst="rect">
                <a:avLst/>
              </a:prstGeom>
              <a:blipFill rotWithShape="0">
                <a:blip r:embed="Rec25c15f95644214"/>
                <a:stretch>
                  <a:fillRect t="-151087" r="-13550" b="-2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5886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1124"/>
          </a:xfrm>
        </p:spPr>
        <p:txBody>
          <a:bodyPr/>
          <a:lstStyle/>
          <a:p>
            <a:r>
              <a:rPr lang="en-US" spc="-55" dirty="0"/>
              <a:t>S</a:t>
            </a:r>
            <a:r>
              <a:rPr lang="en-US" spc="-75" dirty="0"/>
              <a:t>t</a:t>
            </a:r>
            <a:r>
              <a:rPr lang="en-US" spc="-55" dirty="0"/>
              <a:t>anda</a:t>
            </a:r>
            <a:r>
              <a:rPr lang="en-US" spc="-90" dirty="0"/>
              <a:t>r</a:t>
            </a:r>
            <a:r>
              <a:rPr lang="en-US" spc="-55" dirty="0"/>
              <a:t>d</a:t>
            </a:r>
            <a:r>
              <a:rPr lang="en-US" spc="-60" dirty="0"/>
              <a:t>i</a:t>
            </a:r>
            <a:r>
              <a:rPr lang="en-US" spc="-50" dirty="0"/>
              <a:t>z</a:t>
            </a:r>
            <a:r>
              <a:rPr lang="en-US" spc="-60" dirty="0"/>
              <a:t>i</a:t>
            </a:r>
            <a:r>
              <a:rPr lang="en-US" spc="-55" dirty="0"/>
              <a:t>n</a:t>
            </a:r>
            <a:r>
              <a:rPr lang="en-US" spc="-5" dirty="0"/>
              <a:t>g</a:t>
            </a:r>
            <a:r>
              <a:rPr lang="en-US" spc="-135" dirty="0"/>
              <a:t> </a:t>
            </a:r>
            <a:r>
              <a:rPr lang="en-US" spc="-5" dirty="0"/>
              <a:t>a</a:t>
            </a:r>
            <a:r>
              <a:rPr lang="en-US" spc="-95" dirty="0"/>
              <a:t> </a:t>
            </a:r>
            <a:r>
              <a:rPr lang="en-US" spc="-60" dirty="0"/>
              <a:t>N</a:t>
            </a:r>
            <a:r>
              <a:rPr lang="en-US" spc="-55" dirty="0"/>
              <a:t>or</a:t>
            </a:r>
            <a:r>
              <a:rPr lang="en-US" spc="-50" dirty="0"/>
              <a:t>m</a:t>
            </a:r>
            <a:r>
              <a:rPr lang="en-US" spc="-55" dirty="0"/>
              <a:t>a</a:t>
            </a:r>
            <a:r>
              <a:rPr lang="en-US" spc="-5" dirty="0"/>
              <a:t>l</a:t>
            </a:r>
            <a:r>
              <a:rPr lang="en-US" spc="-110" dirty="0"/>
              <a:t> </a:t>
            </a:r>
            <a:r>
              <a:rPr lang="en-US" spc="-50" dirty="0"/>
              <a:t>D</a:t>
            </a:r>
            <a:r>
              <a:rPr lang="en-US" spc="-60" dirty="0"/>
              <a:t>i</a:t>
            </a:r>
            <a:r>
              <a:rPr lang="en-US" spc="-90" dirty="0"/>
              <a:t>s</a:t>
            </a:r>
            <a:r>
              <a:rPr lang="en-US" spc="-55" dirty="0"/>
              <a:t>tr</a:t>
            </a:r>
            <a:r>
              <a:rPr lang="en-US" spc="-60" dirty="0"/>
              <a:t>i</a:t>
            </a:r>
            <a:r>
              <a:rPr lang="en-US" spc="-55" dirty="0"/>
              <a:t>but</a:t>
            </a:r>
            <a:r>
              <a:rPr lang="en-US" spc="-60" dirty="0"/>
              <a:t>i</a:t>
            </a:r>
            <a:r>
              <a:rPr lang="en-US" spc="-55" dirty="0"/>
              <a:t>o</a:t>
            </a:r>
            <a:r>
              <a:rPr lang="en-US" spc="-5" dirty="0"/>
              <a:t>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6250"/>
            <a:ext cx="10515600" cy="4990713"/>
          </a:xfrm>
        </p:spPr>
        <p:txBody>
          <a:bodyPr>
            <a:normAutofit lnSpcReduction="10000"/>
          </a:bodyPr>
          <a:lstStyle/>
          <a:p>
            <a:r>
              <a:rPr lang="en-US" spc="-90" dirty="0">
                <a:cs typeface="Leelawadee UI Semilight"/>
              </a:rPr>
              <a:t>To</a:t>
            </a:r>
            <a:r>
              <a:rPr lang="en-US" spc="250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standardize</a:t>
            </a:r>
            <a:r>
              <a:rPr lang="en-US" spc="254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any</a:t>
            </a:r>
            <a:r>
              <a:rPr lang="en-US" spc="240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normal</a:t>
            </a:r>
            <a:r>
              <a:rPr lang="en-US" spc="254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distribution,</a:t>
            </a:r>
            <a:r>
              <a:rPr lang="en-US" spc="265" dirty="0">
                <a:cs typeface="Leelawadee UI Semilight"/>
              </a:rPr>
              <a:t> </a:t>
            </a:r>
            <a:r>
              <a:rPr lang="en-US" spc="-10" dirty="0">
                <a:cs typeface="Leelawadee UI Semilight"/>
              </a:rPr>
              <a:t>we</a:t>
            </a:r>
            <a:r>
              <a:rPr lang="en-US" spc="250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need</a:t>
            </a:r>
            <a:r>
              <a:rPr lang="en-US" spc="250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to</a:t>
            </a:r>
            <a:r>
              <a:rPr lang="en-US" spc="254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transform</a:t>
            </a:r>
            <a:r>
              <a:rPr lang="en-US" spc="25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it</a:t>
            </a:r>
            <a:r>
              <a:rPr lang="en-US" spc="254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so</a:t>
            </a:r>
            <a:r>
              <a:rPr lang="en-US" spc="25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that</a:t>
            </a:r>
            <a:r>
              <a:rPr lang="en-US" spc="25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the</a:t>
            </a:r>
            <a:r>
              <a:rPr lang="en-US" spc="250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mean</a:t>
            </a:r>
            <a:r>
              <a:rPr lang="en-US" spc="26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is</a:t>
            </a:r>
            <a:r>
              <a:rPr lang="en-US" spc="25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0</a:t>
            </a:r>
            <a:r>
              <a:rPr lang="en-US" spc="250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and</a:t>
            </a:r>
            <a:r>
              <a:rPr lang="en-US" spc="25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the</a:t>
            </a:r>
            <a:r>
              <a:rPr lang="en-US" spc="250" dirty="0">
                <a:cs typeface="Leelawadee UI Semilight"/>
              </a:rPr>
              <a:t> </a:t>
            </a:r>
            <a:r>
              <a:rPr lang="en-US" spc="-10" dirty="0">
                <a:cs typeface="Leelawadee UI Semilight"/>
              </a:rPr>
              <a:t>variance</a:t>
            </a:r>
            <a:r>
              <a:rPr lang="en-US" spc="240" dirty="0">
                <a:cs typeface="Leelawadee UI Semilight"/>
              </a:rPr>
              <a:t> </a:t>
            </a:r>
            <a:r>
              <a:rPr lang="en-US" dirty="0">
                <a:cs typeface="Leelawadee UI Semilight"/>
              </a:rPr>
              <a:t>and </a:t>
            </a:r>
            <a:r>
              <a:rPr lang="en-US" spc="-480" dirty="0">
                <a:cs typeface="Leelawadee UI Semilight"/>
              </a:rPr>
              <a:t> </a:t>
            </a:r>
            <a:r>
              <a:rPr lang="en-US" spc="-10" dirty="0">
                <a:cs typeface="Leelawadee UI Semilight"/>
              </a:rPr>
              <a:t>standard</a:t>
            </a:r>
            <a:r>
              <a:rPr lang="en-US" spc="-5" dirty="0">
                <a:cs typeface="Leelawadee UI Semilight"/>
              </a:rPr>
              <a:t> deviation </a:t>
            </a:r>
            <a:r>
              <a:rPr lang="en-US" spc="-10" dirty="0">
                <a:cs typeface="Leelawadee UI Semilight"/>
              </a:rPr>
              <a:t>are</a:t>
            </a:r>
            <a:r>
              <a:rPr lang="en-US" spc="-15" dirty="0">
                <a:cs typeface="Leelawadee UI Semilight"/>
              </a:rPr>
              <a:t> </a:t>
            </a:r>
            <a:r>
              <a:rPr lang="en-US" spc="-5" dirty="0">
                <a:cs typeface="Leelawadee UI Semilight"/>
              </a:rPr>
              <a:t>1</a:t>
            </a:r>
          </a:p>
          <a:p>
            <a:endParaRPr lang="en-US" spc="-5" dirty="0">
              <a:cs typeface="Leelawadee UI Semilight"/>
            </a:endParaRPr>
          </a:p>
          <a:p>
            <a:endParaRPr lang="en-US" spc="-5" dirty="0">
              <a:cs typeface="Leelawadee UI Semilight"/>
            </a:endParaRPr>
          </a:p>
          <a:p>
            <a:endParaRPr lang="en-US" spc="-5" dirty="0">
              <a:cs typeface="Leelawadee UI Semilight"/>
            </a:endParaRPr>
          </a:p>
          <a:p>
            <a:endParaRPr lang="en-US" spc="-5" dirty="0">
              <a:cs typeface="Leelawadee UI Semilight"/>
            </a:endParaRPr>
          </a:p>
          <a:p>
            <a:r>
              <a:rPr lang="en-US" dirty="0">
                <a:cs typeface="Leelawadee UI Semilight"/>
              </a:rPr>
              <a:t>We	can	transform	any	Normal	Distribution	into	a Standard	Normal	Distribution	using	the  transformation shown above</a:t>
            </a:r>
          </a:p>
          <a:p>
            <a:r>
              <a:rPr lang="en-US" dirty="0">
                <a:cs typeface="Leelawadee UI Semilight"/>
              </a:rPr>
              <a:t>Convenient to use because of a table of known values for its tail probability (1-CDF), called the Z-score table, or simply the  Z-table</a:t>
            </a:r>
          </a:p>
          <a:p>
            <a:endParaRPr lang="en-US" dirty="0">
              <a:cs typeface="Leelawadee UI Semilight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686" y="2496065"/>
            <a:ext cx="292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80" y="2186181"/>
            <a:ext cx="71247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64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2972"/>
          </a:xfrm>
        </p:spPr>
        <p:txBody>
          <a:bodyPr/>
          <a:lstStyle/>
          <a:p>
            <a:r>
              <a:rPr lang="en-US" spc="-55" dirty="0"/>
              <a:t>S</a:t>
            </a:r>
            <a:r>
              <a:rPr lang="en-US" spc="-75" dirty="0"/>
              <a:t>t</a:t>
            </a:r>
            <a:r>
              <a:rPr lang="en-US" spc="-55" dirty="0"/>
              <a:t>anda</a:t>
            </a:r>
            <a:r>
              <a:rPr lang="en-US" spc="-90" dirty="0"/>
              <a:t>r</a:t>
            </a:r>
            <a:r>
              <a:rPr lang="en-US" spc="-55" dirty="0"/>
              <a:t>d</a:t>
            </a:r>
            <a:r>
              <a:rPr lang="en-US" spc="-60" dirty="0"/>
              <a:t>i</a:t>
            </a:r>
            <a:r>
              <a:rPr lang="en-US" spc="-50" dirty="0"/>
              <a:t>z</a:t>
            </a:r>
            <a:r>
              <a:rPr lang="en-US" spc="-60" dirty="0"/>
              <a:t>i</a:t>
            </a:r>
            <a:r>
              <a:rPr lang="en-US" spc="-55" dirty="0"/>
              <a:t>n</a:t>
            </a:r>
            <a:r>
              <a:rPr lang="en-US" spc="-5" dirty="0"/>
              <a:t>g</a:t>
            </a:r>
            <a:r>
              <a:rPr lang="en-US" spc="-135" dirty="0"/>
              <a:t> </a:t>
            </a:r>
            <a:r>
              <a:rPr lang="en-US" spc="-5" dirty="0"/>
              <a:t>a</a:t>
            </a:r>
            <a:r>
              <a:rPr lang="en-US" spc="-95" dirty="0"/>
              <a:t> </a:t>
            </a:r>
            <a:r>
              <a:rPr lang="en-US" spc="-60" dirty="0"/>
              <a:t>N</a:t>
            </a:r>
            <a:r>
              <a:rPr lang="en-US" spc="-55" dirty="0"/>
              <a:t>or</a:t>
            </a:r>
            <a:r>
              <a:rPr lang="en-US" spc="-50" dirty="0"/>
              <a:t>m</a:t>
            </a:r>
            <a:r>
              <a:rPr lang="en-US" spc="-55" dirty="0"/>
              <a:t>a</a:t>
            </a:r>
            <a:r>
              <a:rPr lang="en-US" spc="-5" dirty="0"/>
              <a:t>l</a:t>
            </a:r>
            <a:r>
              <a:rPr lang="en-US" spc="-110" dirty="0"/>
              <a:t> </a:t>
            </a:r>
            <a:r>
              <a:rPr lang="en-US" spc="-50" dirty="0"/>
              <a:t>D</a:t>
            </a:r>
            <a:r>
              <a:rPr lang="en-US" spc="-60" dirty="0"/>
              <a:t>i</a:t>
            </a:r>
            <a:r>
              <a:rPr lang="en-US" spc="-90" dirty="0"/>
              <a:t>s</a:t>
            </a:r>
            <a:r>
              <a:rPr lang="en-US" spc="-55" dirty="0"/>
              <a:t>tr</a:t>
            </a:r>
            <a:r>
              <a:rPr lang="en-US" spc="-60" dirty="0"/>
              <a:t>i</a:t>
            </a:r>
            <a:r>
              <a:rPr lang="en-US" spc="-55" dirty="0"/>
              <a:t>but</a:t>
            </a:r>
            <a:r>
              <a:rPr lang="en-US" spc="-60" dirty="0"/>
              <a:t>i</a:t>
            </a:r>
            <a:r>
              <a:rPr lang="en-US" spc="-55" dirty="0"/>
              <a:t>o</a:t>
            </a:r>
            <a:r>
              <a:rPr lang="en-US" spc="-5" dirty="0"/>
              <a:t>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714"/>
            <a:ext cx="10515600" cy="46282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52</a:t>
            </a:fld>
            <a:endParaRPr lang="en-US"/>
          </a:p>
        </p:txBody>
      </p:sp>
      <p:pic>
        <p:nvPicPr>
          <p:cNvPr id="6146" name="Picture 2" descr="Standard Normal Distributio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925" y="2108886"/>
            <a:ext cx="3881138" cy="278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ample Normal Distribution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05" y="2520778"/>
            <a:ext cx="2698149" cy="20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4456670" y="3369276"/>
            <a:ext cx="2290119" cy="61783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67905" y="5023955"/>
                <a:ext cx="3679918" cy="8552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/2</m:t>
                          </m:r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905" y="5023955"/>
                <a:ext cx="3679918" cy="855299"/>
              </a:xfrm>
              <a:prstGeom prst="rect">
                <a:avLst/>
              </a:prstGeom>
              <a:blipFill rotWithShape="0">
                <a:blip r:embed="R2c60b101a6ad47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94665" y="4938027"/>
                <a:ext cx="2691250" cy="855299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665" y="4938027"/>
                <a:ext cx="2691250" cy="855299"/>
              </a:xfrm>
              <a:prstGeom prst="rect">
                <a:avLst/>
              </a:prstGeom>
              <a:blipFill rotWithShape="0">
                <a:blip r:embed="R25c56588861841ba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1404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</p:spPr>
        <p:txBody>
          <a:bodyPr/>
          <a:lstStyle/>
          <a:p>
            <a:r>
              <a:rPr lang="en-US" dirty="0">
                <a:cs typeface="Leelawadee UI Semilight"/>
              </a:rPr>
              <a:t>Z-score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0DF8E-BCB6-6A46-87B1-AD60DAE51FB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8000"/>
          </a:blip>
          <a:stretch>
            <a:fillRect/>
          </a:stretch>
        </p:blipFill>
        <p:spPr>
          <a:xfrm>
            <a:off x="2234242" y="1130060"/>
            <a:ext cx="7108166" cy="4649637"/>
          </a:xfrm>
          <a:prstGeom prst="rect">
            <a:avLst/>
          </a:prstGeom>
          <a:effectLst>
            <a:glow rad="127000">
              <a:schemeClr val="accent1"/>
            </a:glow>
            <a:outerShdw blurRad="152400" dir="5400000" algn="ctr" rotWithShape="0">
              <a:srgbClr val="000000"/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67019" y="5946066"/>
                <a:ext cx="5046766" cy="637419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Z-Value=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m:rPr>
                                <m:sty m:val="p"/>
                              </m:rPr>
                              <a:rPr lang="en-US" sz="2400" b="0" i="1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</m:e>
                    </m:func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019" y="5946066"/>
                <a:ext cx="5046766" cy="637419"/>
              </a:xfrm>
              <a:prstGeom prst="rect">
                <a:avLst/>
              </a:prstGeom>
              <a:blipFill>
                <a:blip r:embed="Re69c6b2b9c5949f8"/>
                <a:stretch>
                  <a:fillRect l="-1935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78395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5351"/>
          </a:xfrm>
        </p:spPr>
        <p:txBody>
          <a:bodyPr/>
          <a:lstStyle/>
          <a:p>
            <a:r>
              <a:rPr lang="en-US" dirty="0"/>
              <a:t>Example: Standardized Normal Distribution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476"/>
            <a:ext cx="10515600" cy="4636487"/>
          </a:xfrm>
        </p:spPr>
        <p:txBody>
          <a:bodyPr/>
          <a:lstStyle/>
          <a:p>
            <a:pPr algn="just"/>
            <a:r>
              <a:rPr lang="en-US" spc="5" dirty="0">
                <a:cs typeface="Times New Roman" panose="02020603050405020304" pitchFamily="18" charset="0"/>
              </a:rPr>
              <a:t>Perfume</a:t>
            </a:r>
            <a:r>
              <a:rPr lang="en-US" spc="10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bottles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are </a:t>
            </a:r>
            <a:r>
              <a:rPr lang="en-US" dirty="0">
                <a:cs typeface="Times New Roman" panose="02020603050405020304" pitchFamily="18" charset="0"/>
              </a:rPr>
              <a:t>filled</a:t>
            </a:r>
            <a:r>
              <a:rPr lang="en-US" spc="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with </a:t>
            </a:r>
            <a:r>
              <a:rPr lang="en-US" spc="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the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average</a:t>
            </a:r>
            <a:r>
              <a:rPr lang="en-US" spc="1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volume</a:t>
            </a:r>
            <a:r>
              <a:rPr lang="en-US" spc="-5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of</a:t>
            </a:r>
            <a:r>
              <a:rPr lang="en-US" spc="-2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150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cc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and </a:t>
            </a:r>
            <a:r>
              <a:rPr lang="en-US" spc="-65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the</a:t>
            </a:r>
            <a:r>
              <a:rPr lang="en-US" spc="-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standard</a:t>
            </a:r>
            <a:r>
              <a:rPr lang="en-US" spc="15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deviation</a:t>
            </a:r>
            <a:r>
              <a:rPr lang="en-US" spc="-20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of</a:t>
            </a:r>
            <a:r>
              <a:rPr lang="en-US" spc="-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cc. </a:t>
            </a:r>
            <a:r>
              <a:rPr lang="en-US" spc="5" dirty="0">
                <a:cs typeface="Times New Roman" panose="02020603050405020304" pitchFamily="18" charset="0"/>
              </a:rPr>
              <a:t>What percent </a:t>
            </a:r>
            <a:r>
              <a:rPr lang="en-US" dirty="0">
                <a:cs typeface="Times New Roman" panose="02020603050405020304" pitchFamily="18" charset="0"/>
              </a:rPr>
              <a:t>of bottles </a:t>
            </a:r>
            <a:r>
              <a:rPr lang="en-US" spc="5" dirty="0">
                <a:cs typeface="Times New Roman" panose="02020603050405020304" pitchFamily="18" charset="0"/>
              </a:rPr>
              <a:t>will </a:t>
            </a:r>
            <a:r>
              <a:rPr lang="en-US" dirty="0">
                <a:cs typeface="Times New Roman" panose="02020603050405020304" pitchFamily="18" charset="0"/>
              </a:rPr>
              <a:t>have </a:t>
            </a:r>
            <a:r>
              <a:rPr lang="en-US" spc="-65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the volume </a:t>
            </a:r>
            <a:r>
              <a:rPr lang="en-US" dirty="0">
                <a:cs typeface="Times New Roman" panose="02020603050405020304" pitchFamily="18" charset="0"/>
              </a:rPr>
              <a:t>more than or equal to </a:t>
            </a:r>
            <a:r>
              <a:rPr lang="en-US" spc="5" dirty="0">
                <a:cs typeface="Times New Roman" panose="02020603050405020304" pitchFamily="18" charset="0"/>
              </a:rPr>
              <a:t>152 </a:t>
            </a:r>
            <a:r>
              <a:rPr lang="en-US" spc="-655" dirty="0">
                <a:cs typeface="Times New Roman" panose="02020603050405020304" pitchFamily="18" charset="0"/>
              </a:rPr>
              <a:t> </a:t>
            </a:r>
            <a:r>
              <a:rPr lang="en-US" spc="-5" dirty="0">
                <a:cs typeface="Times New Roman" panose="02020603050405020304" pitchFamily="18" charset="0"/>
              </a:rPr>
              <a:t>cc?</a:t>
            </a:r>
            <a:endParaRPr lang="en-US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62" y="3242618"/>
            <a:ext cx="390473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046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5351"/>
          </a:xfrm>
        </p:spPr>
        <p:txBody>
          <a:bodyPr/>
          <a:lstStyle/>
          <a:p>
            <a:r>
              <a:rPr lang="en-US" dirty="0"/>
              <a:t>Example: Standardized Normal Distribution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476"/>
            <a:ext cx="10515600" cy="4636487"/>
          </a:xfrm>
        </p:spPr>
        <p:txBody>
          <a:bodyPr/>
          <a:lstStyle/>
          <a:p>
            <a:pPr algn="just"/>
            <a:r>
              <a:rPr lang="en-US" spc="5" dirty="0">
                <a:cs typeface="Times New Roman" panose="02020603050405020304" pitchFamily="18" charset="0"/>
              </a:rPr>
              <a:t>Perfume</a:t>
            </a:r>
            <a:r>
              <a:rPr lang="en-US" spc="10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bottles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are </a:t>
            </a:r>
            <a:r>
              <a:rPr lang="en-US" dirty="0">
                <a:cs typeface="Times New Roman" panose="02020603050405020304" pitchFamily="18" charset="0"/>
              </a:rPr>
              <a:t>filled</a:t>
            </a:r>
            <a:r>
              <a:rPr lang="en-US" spc="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with </a:t>
            </a:r>
            <a:r>
              <a:rPr lang="en-US" spc="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the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average</a:t>
            </a:r>
            <a:r>
              <a:rPr lang="en-US" spc="1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volume</a:t>
            </a:r>
            <a:r>
              <a:rPr lang="en-US" spc="-5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of</a:t>
            </a:r>
            <a:r>
              <a:rPr lang="en-US" spc="-2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150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cc</a:t>
            </a:r>
            <a:r>
              <a:rPr lang="en-US" spc="-1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and </a:t>
            </a:r>
            <a:r>
              <a:rPr lang="en-US" spc="-650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the</a:t>
            </a:r>
            <a:r>
              <a:rPr lang="en-US" spc="-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standard</a:t>
            </a:r>
            <a:r>
              <a:rPr lang="en-US" spc="15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deviation</a:t>
            </a:r>
            <a:r>
              <a:rPr lang="en-US" spc="-20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of</a:t>
            </a:r>
            <a:r>
              <a:rPr lang="en-US" spc="-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cc. </a:t>
            </a:r>
            <a:r>
              <a:rPr lang="en-US" spc="5" dirty="0">
                <a:cs typeface="Times New Roman" panose="02020603050405020304" pitchFamily="18" charset="0"/>
              </a:rPr>
              <a:t>What percent </a:t>
            </a:r>
            <a:r>
              <a:rPr lang="en-US" dirty="0">
                <a:cs typeface="Times New Roman" panose="02020603050405020304" pitchFamily="18" charset="0"/>
              </a:rPr>
              <a:t>of bottles </a:t>
            </a:r>
            <a:r>
              <a:rPr lang="en-US" spc="5" dirty="0">
                <a:cs typeface="Times New Roman" panose="02020603050405020304" pitchFamily="18" charset="0"/>
              </a:rPr>
              <a:t>will </a:t>
            </a:r>
            <a:r>
              <a:rPr lang="en-US" dirty="0">
                <a:cs typeface="Times New Roman" panose="02020603050405020304" pitchFamily="18" charset="0"/>
              </a:rPr>
              <a:t>have </a:t>
            </a:r>
            <a:r>
              <a:rPr lang="en-US" spc="-655" dirty="0">
                <a:cs typeface="Times New Roman" panose="02020603050405020304" pitchFamily="18" charset="0"/>
              </a:rPr>
              <a:t> </a:t>
            </a:r>
            <a:r>
              <a:rPr lang="en-US" spc="5" dirty="0">
                <a:cs typeface="Times New Roman" panose="02020603050405020304" pitchFamily="18" charset="0"/>
              </a:rPr>
              <a:t>the volume </a:t>
            </a:r>
            <a:r>
              <a:rPr lang="en-US" dirty="0">
                <a:cs typeface="Times New Roman" panose="02020603050405020304" pitchFamily="18" charset="0"/>
              </a:rPr>
              <a:t>more than or equal to </a:t>
            </a:r>
            <a:r>
              <a:rPr lang="en-US" spc="5" dirty="0">
                <a:cs typeface="Times New Roman" panose="02020603050405020304" pitchFamily="18" charset="0"/>
              </a:rPr>
              <a:t>152 </a:t>
            </a:r>
            <a:r>
              <a:rPr lang="en-US" spc="-655" dirty="0">
                <a:cs typeface="Times New Roman" panose="02020603050405020304" pitchFamily="18" charset="0"/>
              </a:rPr>
              <a:t> </a:t>
            </a:r>
            <a:r>
              <a:rPr lang="en-US" spc="-5" dirty="0">
                <a:cs typeface="Times New Roman" panose="02020603050405020304" pitchFamily="18" charset="0"/>
              </a:rPr>
              <a:t>cc?</a:t>
            </a:r>
            <a:endParaRPr lang="en-US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C73C98-19D7-D3C2-74FD-28629A24481E}"/>
                  </a:ext>
                </a:extLst>
              </p:cNvPr>
              <p:cNvSpPr txBox="1"/>
              <p:nvPr/>
            </p:nvSpPr>
            <p:spPr>
              <a:xfrm>
                <a:off x="238898" y="3062029"/>
                <a:ext cx="6138250" cy="2674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4545">
                  <a:lnSpc>
                    <a:spcPts val="2260"/>
                  </a:lnSpc>
                  <a:tabLst>
                    <a:tab pos="11398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800" i="1" spc="130" dirty="0">
                          <a:latin typeface="Cambria Math" panose="02040503050406030204" pitchFamily="18" charset="0"/>
                          <a:cs typeface="Cambria"/>
                        </a:rPr>
                        <m:t>𝜇</m:t>
                      </m:r>
                      <m:r>
                        <a:rPr lang="el-GR" sz="1800" i="1" spc="130" dirty="0">
                          <a:latin typeface="Cambria Math" panose="02040503050406030204" pitchFamily="18" charset="0"/>
                          <a:cs typeface="Cambria"/>
                        </a:rPr>
                        <m:t>	= 150 </m:t>
                      </m:r>
                      <m:r>
                        <a:rPr lang="el-GR" sz="1800" i="1" spc="5" dirty="0">
                          <a:latin typeface="Cambria Math" panose="02040503050406030204" pitchFamily="18" charset="0"/>
                          <a:cs typeface="Cambria"/>
                        </a:rPr>
                        <m:t>𝑐𝑐</m:t>
                      </m:r>
                    </m:oMath>
                  </m:oMathPara>
                </a14:m>
                <a:endParaRPr lang="en-US" sz="1800" i="1" spc="5" dirty="0">
                  <a:latin typeface="+mj-lt"/>
                  <a:cs typeface="Cambria"/>
                </a:endParaRPr>
              </a:p>
              <a:p>
                <a:pPr marL="804545">
                  <a:lnSpc>
                    <a:spcPts val="2260"/>
                  </a:lnSpc>
                  <a:tabLst>
                    <a:tab pos="11398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800" i="1" spc="-70" dirty="0">
                          <a:latin typeface="Cambria Math" panose="02040503050406030204" pitchFamily="18" charset="0"/>
                          <a:cs typeface="Cambria"/>
                        </a:rPr>
                        <m:t>𝜎</m:t>
                      </m:r>
                      <m:r>
                        <a:rPr lang="el-GR" sz="1800" i="1" spc="4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l-GR" sz="1800" i="1" spc="125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l-GR" sz="1800" i="1" spc="4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l-GR" sz="1800" i="1" spc="-130" dirty="0">
                          <a:latin typeface="Cambria Math" panose="02040503050406030204" pitchFamily="18" charset="0"/>
                          <a:cs typeface="Cambria"/>
                        </a:rPr>
                        <m:t>2</m:t>
                      </m:r>
                      <m:r>
                        <a:rPr lang="el-GR" sz="1800" i="1" spc="5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l-GR" sz="1800" i="1" spc="5" dirty="0">
                          <a:latin typeface="Cambria Math" panose="02040503050406030204" pitchFamily="18" charset="0"/>
                          <a:cs typeface="Cambria"/>
                        </a:rPr>
                        <m:t>𝑐𝑐</m:t>
                      </m:r>
                    </m:oMath>
                  </m:oMathPara>
                </a14:m>
                <a:endParaRPr lang="el-GR" sz="1800" dirty="0">
                  <a:latin typeface="+mj-lt"/>
                  <a:cs typeface="Cambria"/>
                </a:endParaRPr>
              </a:p>
              <a:p>
                <a:pPr marL="804545" marR="641350">
                  <a:lnSpc>
                    <a:spcPct val="116100"/>
                  </a:lnSpc>
                  <a:spcBef>
                    <a:spcPts val="53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 spc="-5" dirty="0">
                          <a:latin typeface="Cambria Math" panose="02040503050406030204" pitchFamily="18" charset="0"/>
                          <a:cs typeface="Calibri"/>
                        </a:rPr>
                        <m:t>𝑧</m:t>
                      </m:r>
                      <m:r>
                        <a:rPr lang="el-GR" sz="1800" i="1" spc="-5" dirty="0">
                          <a:latin typeface="Cambria Math" panose="02040503050406030204" pitchFamily="18" charset="0"/>
                          <a:cs typeface="Calibri"/>
                        </a:rPr>
                        <m:t> =</m:t>
                      </m:r>
                      <m:f>
                        <m:fPr>
                          <m:ctrlPr>
                            <a:rPr lang="el-GR" sz="1800" b="0" i="1" spc="-5" dirty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l-GR" sz="1800" b="0" i="1" spc="-5" dirty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1800" b="0" i="1" spc="-5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  <m:r>
                                <a:rPr lang="el-GR" sz="1800" i="1" spc="-20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 </m:t>
                              </m:r>
                              <m:r>
                                <a:rPr lang="el-GR" sz="1800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− </m:t>
                              </m:r>
                              <m:r>
                                <a:rPr lang="el-GR" sz="1800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𝜇</m:t>
                              </m:r>
                            </m:e>
                          </m:d>
                        </m:num>
                        <m:den>
                          <m:r>
                            <a:rPr lang="el-GR" i="1" dirty="0">
                              <a:latin typeface="Cambria Math" panose="02040503050406030204" pitchFamily="18" charset="0"/>
                              <a:cs typeface="Calibri"/>
                            </a:rPr>
                            <m:t>𝜎</m:t>
                          </m:r>
                        </m:den>
                      </m:f>
                      <m:r>
                        <a:rPr lang="el-GR" sz="1800" i="1" spc="-15" dirty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l-GR" sz="1800" i="1" dirty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f>
                        <m:fPr>
                          <m:ctrlPr>
                            <a:rPr lang="el-GR" sz="1800" i="1" spc="-5" dirty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l-GR" sz="1800" i="1" spc="-10" dirty="0">
                              <a:latin typeface="Cambria Math" panose="02040503050406030204" pitchFamily="18" charset="0"/>
                              <a:cs typeface="Calibri"/>
                            </a:rPr>
                            <m:t>152</m:t>
                          </m:r>
                          <m:r>
                            <a:rPr lang="el-GR" sz="1800" i="1" spc="-20" dirty="0">
                              <a:latin typeface="Cambria Math" panose="02040503050406030204" pitchFamily="18" charset="0"/>
                              <a:cs typeface="Calibri"/>
                            </a:rPr>
                            <m:t> </m:t>
                          </m:r>
                          <m:r>
                            <a:rPr lang="el-GR" sz="1800" i="1" dirty="0">
                              <a:latin typeface="Cambria Math" panose="02040503050406030204" pitchFamily="18" charset="0"/>
                              <a:cs typeface="Calibri"/>
                            </a:rPr>
                            <m:t>–</m:t>
                          </m:r>
                          <m:r>
                            <a:rPr lang="el-GR" sz="1800" i="1" spc="-5" dirty="0">
                              <a:latin typeface="Cambria Math" panose="02040503050406030204" pitchFamily="18" charset="0"/>
                              <a:cs typeface="Calibri"/>
                            </a:rPr>
                            <m:t> 150</m:t>
                          </m:r>
                        </m:num>
                        <m:den>
                          <m:r>
                            <a:rPr lang="el-GR" sz="1800" i="1" spc="-5" dirty="0"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den>
                      </m:f>
                      <m:r>
                        <a:rPr lang="el-GR" sz="1800" i="1" dirty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l-GR" sz="1800" i="1" spc="-20" dirty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l-GR" sz="1800" i="1" dirty="0"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  <a:cs typeface="Calibri"/>
                </a:endParaRPr>
              </a:p>
              <a:p>
                <a:pPr marL="804545" marR="641350">
                  <a:lnSpc>
                    <a:spcPct val="116100"/>
                  </a:lnSpc>
                  <a:spcBef>
                    <a:spcPts val="535"/>
                  </a:spcBef>
                </a:pPr>
                <a:r>
                  <a:rPr lang="en-US" sz="1800" dirty="0">
                    <a:latin typeface="Cambria Math" panose="02040503050406030204" pitchFamily="18" charset="0"/>
                    <a:cs typeface="Cambria Math"/>
                  </a:rPr>
                  <a:t>From Z-score Table</a:t>
                </a:r>
              </a:p>
              <a:p>
                <a:pPr marL="804545" marR="641350">
                  <a:lnSpc>
                    <a:spcPct val="116100"/>
                  </a:lnSpc>
                  <a:spcBef>
                    <a:spcPts val="53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>
                          <a:latin typeface="Cambria Math" panose="02040503050406030204" pitchFamily="18" charset="0"/>
                          <a:cs typeface="Cambria Math"/>
                        </a:rPr>
                        <m:t>𝑃</m:t>
                      </m:r>
                      <m:r>
                        <a:rPr lang="en-US" sz="180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en-US" sz="1800" b="0" i="1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en-US" sz="1800" b="0" i="1" dirty="0">
                          <a:latin typeface="Cambria Math" panose="02040503050406030204" pitchFamily="18" charset="0"/>
                          <a:cs typeface="Cambria Math"/>
                        </a:rPr>
                        <m:t>≥152)= 0.15866</m:t>
                      </m:r>
                    </m:oMath>
                  </m:oMathPara>
                </a14:m>
                <a:endParaRPr lang="en-US" sz="1800" dirty="0">
                  <a:latin typeface="+mj-lt"/>
                  <a:cs typeface="Cambria"/>
                </a:endParaRPr>
              </a:p>
              <a:p>
                <a:pPr marL="804545" marR="641350">
                  <a:lnSpc>
                    <a:spcPct val="116100"/>
                  </a:lnSpc>
                  <a:spcBef>
                    <a:spcPts val="535"/>
                  </a:spcBef>
                </a:pPr>
                <a:endParaRPr lang="el-GR" sz="1800" dirty="0">
                  <a:latin typeface="+mj-lt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BC73C98-19D7-D3C2-74FD-28629A244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98" y="3062029"/>
                <a:ext cx="6138250" cy="2674963"/>
              </a:xfrm>
              <a:prstGeom prst="rect">
                <a:avLst/>
              </a:prstGeom>
              <a:blipFill rotWithShape="0">
                <a:blip r:embed="Red4359df5b7f4f2d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D30DF8E-BCB6-6A46-87B1-AD60DAE51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988" y="2660071"/>
            <a:ext cx="5219812" cy="387884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55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277232" y="5733535"/>
            <a:ext cx="807309" cy="823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277231" y="5849028"/>
            <a:ext cx="807309" cy="823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680885" y="4516016"/>
            <a:ext cx="0" cy="133301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084540" y="4524254"/>
            <a:ext cx="0" cy="133301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0947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3578"/>
                <a:ext cx="10515600" cy="560338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Correlation matrix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altLang="ko-KR" b="1" dirty="0"/>
              </a:p>
              <a:p>
                <a:pPr lvl="1"/>
                <a:r>
                  <a:rPr lang="en-US" dirty="0"/>
                  <a:t>The correlation matrix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dirty="0"/>
                  <a:t> (= </a:t>
                </a:r>
                <a:r>
                  <a:rPr lang="en-US" dirty="0"/>
                  <a:t>upper case Greek “rho”) is the standardized covariance matrix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b="1" dirty="0"/>
                  <a:t>                 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b="1" dirty="0"/>
                  <a:t>                                                                                                </a:t>
                </a:r>
                <a:r>
                  <a:rPr lang="en-US" b="1" i="1" dirty="0"/>
                  <a:t>P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33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dirty="0"/>
                  <a:t> is a symmetric matrix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3578"/>
                <a:ext cx="10515600" cy="5603385"/>
              </a:xfrm>
              <a:blipFill rotWithShape="0">
                <a:blip r:embed="Rf720abfd70f94049"/>
                <a:stretch>
                  <a:fillRect l="-928" t="-2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779" y="1679467"/>
            <a:ext cx="3124636" cy="32103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009" y="4836977"/>
            <a:ext cx="1105054" cy="34294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A16B38-AF0C-7C2D-CE2D-2E8E6DF0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A2F56-48C3-43BC-8217-92542E23302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462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B843-158E-B477-D972-27034CB3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7070"/>
          </a:xfrm>
        </p:spPr>
        <p:txBody>
          <a:bodyPr/>
          <a:lstStyle/>
          <a:p>
            <a:r>
              <a:rPr lang="en-US" dirty="0"/>
              <a:t>Correlation: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8170-2FAC-F851-8BB5-E41A8CDEA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762"/>
            <a:ext cx="10515600" cy="466120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6CC44-9A16-E302-B16A-463488BF6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38" y="1515762"/>
            <a:ext cx="4802659" cy="25212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930C2-F491-90ED-E2CC-8A3F9E87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A2F56-48C3-43BC-8217-92542E23302C}" type="slidenum">
              <a:rPr lang="en-US"/>
              <a:t>57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252153"/>
            <a:ext cx="5420497" cy="466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939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r>
                  <a:rPr lang="en-US" dirty="0"/>
                  <a:t>Formula: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two vectors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 rotWithShape="0">
                <a:blip r:embed="R596d13088ccf4796"/>
                <a:stretch>
                  <a:fillRect l="-1043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04300-9233-462C-982D-1DF6FDE7BCD7}" type="slidenum">
              <a:rPr lang="en-US"/>
              <a:t>58</a:t>
            </a:fld>
            <a:endParaRPr lang="en-US"/>
          </a:p>
        </p:txBody>
      </p:sp>
      <p:pic>
        <p:nvPicPr>
          <p:cNvPr id="3074" name="Picture 2" descr="Linear Correlation Coefficient Formu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358" y="2550555"/>
            <a:ext cx="5931242" cy="138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7199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3ADE1-350E-93EB-C574-9A714511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39861"/>
            <a:ext cx="5294716" cy="297827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31C6061-6F5E-80C3-DAD7-8342CB7BF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939862"/>
            <a:ext cx="5294715" cy="29782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C6A15-D4B6-C551-76BF-AAA7675C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7304300-9233-462C-982D-1DF6FDE7BCD7}" type="slidenum">
              <a:rPr lang="en-US" smtClean="0"/>
              <a:pPr>
                <a:spcAft>
                  <a:spcPts val="600"/>
                </a:spcAft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409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3BE455-6480-F95A-F952-F79DD4711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56292"/>
            <a:ext cx="5291666" cy="35454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B5A645-B2E0-9F28-A20A-2497B649B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953948"/>
            <a:ext cx="5291667" cy="29501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47016-86D8-8DD4-4405-10F1E03C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7304300-9233-462C-982D-1DF6FDE7BCD7}" type="slidenum">
              <a:rPr lang="en-US"/>
              <a:pPr>
                <a:spcAft>
                  <a:spcPts val="600"/>
                </a:spcAft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17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22F0-7F03-8CFC-E36B-A67298C7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325"/>
          </a:xfrm>
        </p:spPr>
        <p:txBody>
          <a:bodyPr/>
          <a:lstStyle/>
          <a:p>
            <a:r>
              <a:rPr lang="en-IN" dirty="0"/>
              <a:t>Central Limit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99244-3375-A1D8-F7F3-906469BD8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9200"/>
                <a:ext cx="10515600" cy="4967288"/>
              </a:xfrm>
            </p:spPr>
            <p:txBody>
              <a:bodyPr/>
              <a:lstStyle/>
              <a:p>
                <a:r>
                  <a:rPr lang="en-IN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 are the random samples drawn from a population with overall mean </a:t>
                </a:r>
                <a14:m>
                  <m:oMath xmlns:m="http://schemas.openxmlformats.org/officeDocument/2006/math">
                    <m:r>
                      <a:rPr lang="en-IN" b="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dirty="0"/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, then we have the following asymptotic results: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𝐿𝑖𝑚</m:t>
                          </m:r>
                        </m:e>
                        <m:sub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→∞</m:t>
                          </m:r>
                        </m:sub>
                      </m:sSub>
                      <m:d>
                        <m:d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/√</m:t>
                              </m:r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IN" b="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I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I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99244-3375-A1D8-F7F3-906469BD8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9200"/>
                <a:ext cx="10515600" cy="4967288"/>
              </a:xfrm>
              <a:blipFill>
                <a:blip r:embed="Re02c7ff241784f5e"/>
                <a:stretch>
                  <a:fillRect l="-1043" t="-2086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3" descr="{\textstyle \mu }">
            <a:extLst>
              <a:ext uri="{FF2B5EF4-FFF2-40B4-BE49-F238E27FC236}">
                <a16:creationId xmlns:a16="http://schemas.microsoft.com/office/drawing/2014/main" id="{D4F248CF-80AC-B1EE-F4D4-CACE2C86E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780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{\textstyle \sigma ^{2}}">
            <a:extLst>
              <a:ext uri="{FF2B5EF4-FFF2-40B4-BE49-F238E27FC236}">
                <a16:creationId xmlns:a16="http://schemas.microsoft.com/office/drawing/2014/main" id="{7E51F051-7310-75AA-8621-9958FAB913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51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F3B2CCB-327B-24DF-CDAD-4CAFFC52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4324350"/>
            <a:ext cx="4286250" cy="18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E1B379-F02D-8DE4-D30B-3C2FB4DEA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1" y="4064794"/>
            <a:ext cx="4933952" cy="2121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54515-B2DA-9911-5323-0F412CF8737D}"/>
              </a:ext>
            </a:extLst>
          </p:cNvPr>
          <p:cNvSpPr txBox="1"/>
          <p:nvPr/>
        </p:nvSpPr>
        <p:spPr>
          <a:xfrm>
            <a:off x="7484533" y="6308209"/>
            <a:ext cx="3002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SRS—simple random sample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9043-A8E4-C644-D061-1CA6079A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A2F56-48C3-43BC-8217-92542E23302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6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20584</TotalTime>
  <Words>2807</Words>
  <Application>Microsoft Office PowerPoint</Application>
  <PresentationFormat>Widescreen</PresentationFormat>
  <Paragraphs>411</Paragraphs>
  <Slides>61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__Inter_aaf875</vt:lpstr>
      <vt:lpstr>Arial</vt:lpstr>
      <vt:lpstr>Calibri</vt:lpstr>
      <vt:lpstr>Calibri Light</vt:lpstr>
      <vt:lpstr>Cambria Math</vt:lpstr>
      <vt:lpstr>Leelawadee UI Semilight</vt:lpstr>
      <vt:lpstr>Neue Helvetica W01</vt:lpstr>
      <vt:lpstr>Times New Roman</vt:lpstr>
      <vt:lpstr>Wingdings</vt:lpstr>
      <vt:lpstr>Office Theme</vt:lpstr>
      <vt:lpstr>Probability Theory </vt:lpstr>
      <vt:lpstr>Probability</vt:lpstr>
      <vt:lpstr>Event</vt:lpstr>
      <vt:lpstr>PowerPoint Presentation</vt:lpstr>
      <vt:lpstr>Independent Events</vt:lpstr>
      <vt:lpstr>Dependent Events</vt:lpstr>
      <vt:lpstr>Joint Probability</vt:lpstr>
      <vt:lpstr>Example</vt:lpstr>
      <vt:lpstr>Bayes’ Rule</vt:lpstr>
      <vt:lpstr>Application of Bayes’ Rule: COVID-19 Testing</vt:lpstr>
      <vt:lpstr>Application of Bayes’ Rule: COVID-19 Testing</vt:lpstr>
      <vt:lpstr>PowerPoint Presentation</vt:lpstr>
      <vt:lpstr>Confusion Matrix Calculations</vt:lpstr>
      <vt:lpstr>PowerPoint Presentation</vt:lpstr>
      <vt:lpstr>Random Variable</vt:lpstr>
      <vt:lpstr>Discrete RV</vt:lpstr>
      <vt:lpstr>PMF</vt:lpstr>
      <vt:lpstr>CDF</vt:lpstr>
      <vt:lpstr>Practice Problem</vt:lpstr>
      <vt:lpstr>Discrete Probability Distributions</vt:lpstr>
      <vt:lpstr>Bernoulli Distribution</vt:lpstr>
      <vt:lpstr>Mean of Discrete RV</vt:lpstr>
      <vt:lpstr>Binomial Distribution</vt:lpstr>
      <vt:lpstr>Example cont…</vt:lpstr>
      <vt:lpstr>Binomial Distribution</vt:lpstr>
      <vt:lpstr>PowerPoint Presentation</vt:lpstr>
      <vt:lpstr>Continuous Random Variables</vt:lpstr>
      <vt:lpstr>Continuous Random Variables</vt:lpstr>
      <vt:lpstr>Probability Density Function</vt:lpstr>
      <vt:lpstr>PDF Properties</vt:lpstr>
      <vt:lpstr>Exponential Distribution</vt:lpstr>
      <vt:lpstr>Probability Calculation</vt:lpstr>
      <vt:lpstr>For example, the probability of x falling within 1 to 2:</vt:lpstr>
      <vt:lpstr>Expectation</vt:lpstr>
      <vt:lpstr>Exponential Distribution</vt:lpstr>
      <vt:lpstr>Variance</vt:lpstr>
      <vt:lpstr>Exponential Distribution</vt:lpstr>
      <vt:lpstr>Applications in ML</vt:lpstr>
      <vt:lpstr>PowerPoint Presentation</vt:lpstr>
      <vt:lpstr>Uniform Distribution</vt:lpstr>
      <vt:lpstr>Example: Uniform Distribution</vt:lpstr>
      <vt:lpstr>Uniform Distribution: General Case</vt:lpstr>
      <vt:lpstr>Mean and Variance for the Uniform Distribution</vt:lpstr>
      <vt:lpstr>NORMAL DISTRIBUTION</vt:lpstr>
      <vt:lpstr>PowerPoint Presentation</vt:lpstr>
      <vt:lpstr>THE NORMAL DISTRIBUTION: AS MATHEMATICAL FUNCTION (PDF)</vt:lpstr>
      <vt:lpstr>NORMAL DISTRIBUTION IS DEFINED BY ITS MEAN AND STANDARD DEV.</vt:lpstr>
      <vt:lpstr>UNDERSTANDING MEAN &amp; STANDARD DEVIATION </vt:lpstr>
      <vt:lpstr>UNDERSTANDING MEAN &amp; STANDARD DEVIATION</vt:lpstr>
      <vt:lpstr>Tail Probability</vt:lpstr>
      <vt:lpstr>Standardizing a Normal Distribution</vt:lpstr>
      <vt:lpstr>Standardizing a Normal Distribution</vt:lpstr>
      <vt:lpstr>Z-score Table</vt:lpstr>
      <vt:lpstr>Example: Standardized Normal Distribution </vt:lpstr>
      <vt:lpstr>Example: Standardized Normal Distribution </vt:lpstr>
      <vt:lpstr>PowerPoint Presentation</vt:lpstr>
      <vt:lpstr>Correlation: Observations</vt:lpstr>
      <vt:lpstr>Correlation Calculations</vt:lpstr>
      <vt:lpstr>PowerPoint Presentation</vt:lpstr>
      <vt:lpstr>PowerPoint Presentation</vt:lpstr>
      <vt:lpstr>Central Limit Theorem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Manav Bhatnagar</cp:lastModifiedBy>
  <cp:revision>195</cp:revision>
  <dcterms:created xsi:type="dcterms:W3CDTF">2023-10-15T08:56:29Z</dcterms:created>
  <dcterms:modified xsi:type="dcterms:W3CDTF">2025-08-20T06:30:45Z</dcterms:modified>
</cp:coreProperties>
</file>